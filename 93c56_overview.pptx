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4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ko-KR" sz="1800" spc="-1" strike="noStrike">
                <a:solidFill>
                  <a:schemeClr val="dk1"/>
                </a:solidFill>
                <a:latin typeface="Calibri"/>
              </a:rPr>
              <a:t>슬라이드를 이동하려면 클릭하십시오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KR"/>
              </a:rPr>
              <a:t>메모 서식을 편집하려면 클릭하십시오</a:t>
            </a:r>
            <a:r>
              <a:rPr b="0" lang="en-US" sz="2000" spc="-1" strike="noStrike">
                <a:solidFill>
                  <a:srgbClr val="000000"/>
                </a:solidFill>
                <a:latin typeface="Noto Sans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KR"/>
              </a:defRPr>
            </a:lvl1pPr>
          </a:lstStyle>
          <a:p>
            <a:pPr indent="0" algn="r">
              <a:buNone/>
            </a:pPr>
            <a:fld id="{6994E2B9-F10F-49B5-98DC-2E7487308B8B}" type="slidenum">
              <a:rPr b="0" lang="en-US" sz="1400" spc="-1" strike="noStrike">
                <a:solidFill>
                  <a:srgbClr val="000000"/>
                </a:solidFill>
                <a:latin typeface="Noto Serif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F619270-7921-44A3-A9A4-2C3C24E4185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86F2DA9-C87D-4BB4-A4BC-70859413164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655E3D3-90B2-429C-AF9A-5D6A7FF509F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089567F-3231-409A-B6A2-AEB46168B9F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6893ACF-F1D9-4953-B0C2-55561A94F88B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2CC5417-E2CA-43F4-A910-C0FFDFE8C43A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F526742-95CD-4906-858A-1D0224FB1DF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90B55EE-99B8-48B8-A694-5CB02DB874F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9A65BEF-41E3-4860-BB33-88F2C5F6955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A4F392D-CC74-4D57-BBE0-41290B73E33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536CAF6-1114-4F67-B519-02F56F59D1B8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5F2B21E-DF28-416E-883C-9FD03DE5432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5160FAA-18A7-4A71-B5F9-BD6CF9F1B1D8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&lt;숫자&gt;</a:t>
            </a:fld>
            <a:endParaRPr b="0" lang="en-US" sz="1800" spc="-1" strike="noStrike">
              <a:solidFill>
                <a:srgbClr val="000000"/>
              </a:solidFill>
              <a:latin typeface="Noto Serif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chemeClr val="dk1"/>
                </a:solidFill>
                <a:latin typeface="Calibri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42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chemeClr val="dk1"/>
                </a:solidFill>
                <a:latin typeface="Calibri"/>
              </a:rPr>
              <a:t>개요 텍스트의 서식을 편집하려면 클릭하십시오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2</a:t>
            </a:r>
            <a:r>
              <a:rPr b="0" lang="ko-KR" sz="2400" spc="-1" strike="noStrike">
                <a:solidFill>
                  <a:schemeClr val="dk1"/>
                </a:solidFill>
                <a:latin typeface="Calibri"/>
              </a:rPr>
              <a:t>번째 개요 수준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3</a:t>
            </a:r>
            <a:r>
              <a:rPr b="0" lang="ko-KR" sz="2000" spc="-1" strike="noStrike">
                <a:solidFill>
                  <a:schemeClr val="dk1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4</a:t>
            </a:r>
            <a:r>
              <a:rPr b="0" lang="ko-KR" sz="2000" spc="-1" strike="noStrike">
                <a:solidFill>
                  <a:schemeClr val="dk1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5</a:t>
            </a:r>
            <a:r>
              <a:rPr b="0" lang="ko-KR" sz="2000" spc="-1" strike="noStrike">
                <a:solidFill>
                  <a:schemeClr val="dk1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6</a:t>
            </a:r>
            <a:r>
              <a:rPr b="0" lang="ko-KR" sz="2000" spc="-1" strike="noStrike">
                <a:solidFill>
                  <a:schemeClr val="dk1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7</a:t>
            </a:r>
            <a:r>
              <a:rPr b="0" lang="ko-KR" sz="2000" spc="-1" strike="noStrike">
                <a:solidFill>
                  <a:schemeClr val="dk1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457200" y="1097280"/>
            <a:ext cx="8229600" cy="360"/>
          </a:xfrm>
          <a:prstGeom prst="line">
            <a:avLst/>
          </a:prstGeom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Text 1"/>
          <p:cNvSpPr/>
          <p:nvPr/>
        </p:nvSpPr>
        <p:spPr>
          <a:xfrm>
            <a:off x="457200" y="137160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000000"/>
                </a:solidFill>
                <a:latin typeface="Arial Black"/>
                <a:ea typeface="Arial Black"/>
              </a:rPr>
              <a:t>93C56 </a:t>
            </a:r>
            <a:r>
              <a:rPr b="1" lang="ko-KR" sz="3800" spc="-1" strike="noStrike">
                <a:solidFill>
                  <a:srgbClr val="000000"/>
                </a:solidFill>
                <a:latin typeface="Arial Black"/>
                <a:ea typeface="Arial Black"/>
              </a:rPr>
              <a:t>메모리 보드 검사기</a:t>
            </a:r>
            <a:endParaRPr b="0" lang="en-US" sz="3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57200" y="23774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666666"/>
                </a:solidFill>
                <a:latin typeface="Arial"/>
                <a:ea typeface="Arial"/>
              </a:rPr>
              <a:t>STM32H562RGT6  +  FreeRTOS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457200" y="3017520"/>
            <a:ext cx="8229600" cy="360"/>
          </a:xfrm>
          <a:prstGeom prst="line">
            <a:avLst/>
          </a:prstGeom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Text 4"/>
          <p:cNvSpPr/>
          <p:nvPr/>
        </p:nvSpPr>
        <p:spPr>
          <a:xfrm>
            <a:off x="457200" y="347472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ko-KR" sz="1600" spc="-1" strike="noStrike">
                <a:solidFill>
                  <a:srgbClr val="666666"/>
                </a:solidFill>
                <a:latin typeface="Arial"/>
                <a:ea typeface="Arial"/>
              </a:rPr>
              <a:t>초보자를 위한 프로그램 설명서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57200" y="43891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aaaaaa"/>
                </a:solidFill>
                <a:latin typeface="Arial"/>
                <a:ea typeface="Arial"/>
              </a:rPr>
              <a:t>DSE Laser  |  2026.04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시스템 구성도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457200" y="1097280"/>
            <a:ext cx="3840120" cy="347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Text 3"/>
          <p:cNvSpPr/>
          <p:nvPr/>
        </p:nvSpPr>
        <p:spPr>
          <a:xfrm>
            <a:off x="457200" y="10972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000000"/>
                </a:solidFill>
                <a:latin typeface="Arial"/>
                <a:ea typeface="Arial"/>
              </a:rPr>
              <a:t>메인 보드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914400" y="1645920"/>
            <a:ext cx="1645560" cy="63972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Text 5"/>
          <p:cNvSpPr/>
          <p:nvPr/>
        </p:nvSpPr>
        <p:spPr>
          <a:xfrm>
            <a:off x="914400" y="1645920"/>
            <a:ext cx="1645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STM32H562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RGT6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2926080" y="1645920"/>
            <a:ext cx="1096920" cy="63972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Text 7"/>
          <p:cNvSpPr/>
          <p:nvPr/>
        </p:nvSpPr>
        <p:spPr>
          <a:xfrm>
            <a:off x="2926080" y="164592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SK9822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LED x12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2" name="Shape 8"/>
          <p:cNvSpPr/>
          <p:nvPr/>
        </p:nvSpPr>
        <p:spPr>
          <a:xfrm>
            <a:off x="914400" y="2560320"/>
            <a:ext cx="1645560" cy="5482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Text 9"/>
          <p:cNvSpPr/>
          <p:nvPr/>
        </p:nvSpPr>
        <p:spPr>
          <a:xfrm>
            <a:off x="914400" y="2560320"/>
            <a:ext cx="1645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MAX98357A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00" spc="-1" strike="noStrike">
                <a:solidFill>
                  <a:srgbClr val="000000"/>
                </a:solidFill>
                <a:latin typeface="Arial"/>
                <a:ea typeface="Arial"/>
              </a:rPr>
              <a:t>음성 앰프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2926080" y="2560320"/>
            <a:ext cx="1096920" cy="5482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Text 11"/>
          <p:cNvSpPr/>
          <p:nvPr/>
        </p:nvSpPr>
        <p:spPr>
          <a:xfrm>
            <a:off x="2926080" y="2560320"/>
            <a:ext cx="1096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CD4067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16ch MUX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6" name="Shape 12"/>
          <p:cNvSpPr/>
          <p:nvPr/>
        </p:nvSpPr>
        <p:spPr>
          <a:xfrm>
            <a:off x="914400" y="3383280"/>
            <a:ext cx="3108600" cy="4568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914400" y="338328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00" spc="-1" strike="noStrike">
                <a:solidFill>
                  <a:srgbClr val="333333"/>
                </a:solidFill>
                <a:latin typeface="Arial"/>
                <a:ea typeface="Arial"/>
              </a:rPr>
              <a:t>포그핀 커넥터 </a:t>
            </a:r>
            <a:r>
              <a:rPr b="0" lang="en-US" sz="700" spc="-1" strike="noStrike">
                <a:solidFill>
                  <a:srgbClr val="333333"/>
                </a:solidFill>
                <a:latin typeface="Arial"/>
                <a:ea typeface="Arial"/>
              </a:rPr>
              <a:t>x12  (6</a:t>
            </a:r>
            <a:r>
              <a:rPr b="0" lang="ko-KR" sz="700" spc="-1" strike="noStrike">
                <a:solidFill>
                  <a:srgbClr val="333333"/>
                </a:solidFill>
                <a:latin typeface="Arial"/>
                <a:ea typeface="Arial"/>
              </a:rPr>
              <a:t>핀</a:t>
            </a:r>
            <a:r>
              <a:rPr b="0" lang="en-US" sz="700" spc="-1" strike="noStrike">
                <a:solidFill>
                  <a:srgbClr val="333333"/>
                </a:solidFill>
                <a:latin typeface="Arial"/>
                <a:ea typeface="Arial"/>
              </a:rPr>
              <a:t>: VCC, GND, CS, CLK, DI, DO)</a:t>
            </a:r>
            <a:endParaRPr b="0" lang="en-US" sz="7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4297680" y="2926080"/>
            <a:ext cx="548640" cy="360"/>
          </a:xfrm>
          <a:prstGeom prst="line">
            <a:avLst/>
          </a:prstGeom>
          <a:ln w="25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Text 15"/>
          <p:cNvSpPr/>
          <p:nvPr/>
        </p:nvSpPr>
        <p:spPr>
          <a:xfrm>
            <a:off x="4160520" y="260604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포그핀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" name="Shape 16"/>
          <p:cNvSpPr/>
          <p:nvPr/>
        </p:nvSpPr>
        <p:spPr>
          <a:xfrm>
            <a:off x="4846320" y="1097280"/>
            <a:ext cx="3840120" cy="347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Text 17"/>
          <p:cNvSpPr/>
          <p:nvPr/>
        </p:nvSpPr>
        <p:spPr>
          <a:xfrm>
            <a:off x="4846320" y="10972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000000"/>
                </a:solidFill>
                <a:latin typeface="Arial"/>
                <a:ea typeface="Arial"/>
              </a:rPr>
              <a:t>메모리 보드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" name="Shape 18"/>
          <p:cNvSpPr/>
          <p:nvPr/>
        </p:nvSpPr>
        <p:spPr>
          <a:xfrm>
            <a:off x="5212080" y="173736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5212080" y="17373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U1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" name="Shape 20"/>
          <p:cNvSpPr/>
          <p:nvPr/>
        </p:nvSpPr>
        <p:spPr>
          <a:xfrm>
            <a:off x="6035040" y="173736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6035040" y="17373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U2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6" name="Shape 22"/>
          <p:cNvSpPr/>
          <p:nvPr/>
        </p:nvSpPr>
        <p:spPr>
          <a:xfrm>
            <a:off x="6858000" y="173736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Text 23"/>
          <p:cNvSpPr/>
          <p:nvPr/>
        </p:nvSpPr>
        <p:spPr>
          <a:xfrm>
            <a:off x="6858000" y="17373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U3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" name="Shape 24"/>
          <p:cNvSpPr/>
          <p:nvPr/>
        </p:nvSpPr>
        <p:spPr>
          <a:xfrm>
            <a:off x="7680960" y="173736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7680960" y="17373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U4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0" name="Shape 26"/>
          <p:cNvSpPr/>
          <p:nvPr/>
        </p:nvSpPr>
        <p:spPr>
          <a:xfrm>
            <a:off x="5212080" y="246888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Text 27"/>
          <p:cNvSpPr/>
          <p:nvPr/>
        </p:nvSpPr>
        <p:spPr>
          <a:xfrm>
            <a:off x="5212080" y="24688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U5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2" name="Shape 28"/>
          <p:cNvSpPr/>
          <p:nvPr/>
        </p:nvSpPr>
        <p:spPr>
          <a:xfrm>
            <a:off x="6035040" y="246888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Text 29"/>
          <p:cNvSpPr/>
          <p:nvPr/>
        </p:nvSpPr>
        <p:spPr>
          <a:xfrm>
            <a:off x="6035040" y="24688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4" name="Shape 30"/>
          <p:cNvSpPr/>
          <p:nvPr/>
        </p:nvSpPr>
        <p:spPr>
          <a:xfrm>
            <a:off x="6858000" y="246888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Text 31"/>
          <p:cNvSpPr/>
          <p:nvPr/>
        </p:nvSpPr>
        <p:spPr>
          <a:xfrm>
            <a:off x="6858000" y="24688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U7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6" name="Shape 32"/>
          <p:cNvSpPr/>
          <p:nvPr/>
        </p:nvSpPr>
        <p:spPr>
          <a:xfrm>
            <a:off x="7680960" y="246888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Text 33"/>
          <p:cNvSpPr/>
          <p:nvPr/>
        </p:nvSpPr>
        <p:spPr>
          <a:xfrm>
            <a:off x="7680960" y="24688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U8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5212080" y="320040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" name="Text 35"/>
          <p:cNvSpPr/>
          <p:nvPr/>
        </p:nvSpPr>
        <p:spPr>
          <a:xfrm>
            <a:off x="5212080" y="32004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U9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0" name="Shape 36"/>
          <p:cNvSpPr/>
          <p:nvPr/>
        </p:nvSpPr>
        <p:spPr>
          <a:xfrm>
            <a:off x="6035040" y="320040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Text 37"/>
          <p:cNvSpPr/>
          <p:nvPr/>
        </p:nvSpPr>
        <p:spPr>
          <a:xfrm>
            <a:off x="6035040" y="32004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U10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2" name="Shape 38"/>
          <p:cNvSpPr/>
          <p:nvPr/>
        </p:nvSpPr>
        <p:spPr>
          <a:xfrm>
            <a:off x="6858000" y="320040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" name="Text 39"/>
          <p:cNvSpPr/>
          <p:nvPr/>
        </p:nvSpPr>
        <p:spPr>
          <a:xfrm>
            <a:off x="6858000" y="32004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U11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" name="Shape 40"/>
          <p:cNvSpPr/>
          <p:nvPr/>
        </p:nvSpPr>
        <p:spPr>
          <a:xfrm>
            <a:off x="7680960" y="3200400"/>
            <a:ext cx="639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Text 41"/>
          <p:cNvSpPr/>
          <p:nvPr/>
        </p:nvSpPr>
        <p:spPr>
          <a:xfrm>
            <a:off x="7680960" y="32004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93C56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Arial"/>
              </a:rPr>
              <a:t>U12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" name="Text 42"/>
          <p:cNvSpPr/>
          <p:nvPr/>
        </p:nvSpPr>
        <p:spPr>
          <a:xfrm>
            <a:off x="4846320" y="393192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66666"/>
                </a:solidFill>
                <a:latin typeface="Arial"/>
                <a:ea typeface="Arial"/>
              </a:rPr>
              <a:t>4</a:t>
            </a:r>
            <a:r>
              <a:rPr b="0" lang="ko-KR" sz="900" spc="-1" strike="noStrike">
                <a:solidFill>
                  <a:srgbClr val="666666"/>
                </a:solidFill>
                <a:latin typeface="Arial"/>
                <a:ea typeface="Arial"/>
              </a:rPr>
              <a:t>열 </a:t>
            </a:r>
            <a:r>
              <a:rPr b="0" lang="en-US" sz="900" spc="-1" strike="noStrike">
                <a:solidFill>
                  <a:srgbClr val="666666"/>
                </a:solidFill>
                <a:latin typeface="Arial"/>
                <a:ea typeface="Arial"/>
              </a:rPr>
              <a:t>x 3</a:t>
            </a:r>
            <a:r>
              <a:rPr b="0" lang="ko-KR" sz="900" spc="-1" strike="noStrike">
                <a:solidFill>
                  <a:srgbClr val="666666"/>
                </a:solidFill>
                <a:latin typeface="Arial"/>
                <a:ea typeface="Arial"/>
              </a:rPr>
              <a:t>행 </a:t>
            </a:r>
            <a:r>
              <a:rPr b="0" lang="en-US" sz="900" spc="-1" strike="noStrike">
                <a:solidFill>
                  <a:srgbClr val="666666"/>
                </a:solidFill>
                <a:latin typeface="Arial"/>
                <a:ea typeface="Arial"/>
              </a:rPr>
              <a:t>= 12</a:t>
            </a:r>
            <a:r>
              <a:rPr b="0" lang="ko-KR" sz="900" spc="-1" strike="noStrike">
                <a:solidFill>
                  <a:srgbClr val="666666"/>
                </a:solidFill>
                <a:latin typeface="Arial"/>
                <a:ea typeface="Arial"/>
              </a:rPr>
              <a:t>개  </a:t>
            </a:r>
            <a:r>
              <a:rPr b="0" lang="en-US" sz="900" spc="-1" strike="noStrike">
                <a:solidFill>
                  <a:srgbClr val="666666"/>
                </a:solidFill>
                <a:latin typeface="Arial"/>
                <a:ea typeface="Arial"/>
              </a:rPr>
              <a:t>(93C46: 128B </a:t>
            </a:r>
            <a:r>
              <a:rPr b="0" lang="ko-KR" sz="900" spc="-1" strike="noStrike">
                <a:solidFill>
                  <a:srgbClr val="666666"/>
                </a:solidFill>
                <a:latin typeface="Arial"/>
                <a:ea typeface="Arial"/>
              </a:rPr>
              <a:t>또는 </a:t>
            </a:r>
            <a:r>
              <a:rPr b="0" lang="en-US" sz="900" spc="-1" strike="noStrike">
                <a:solidFill>
                  <a:srgbClr val="666666"/>
                </a:solidFill>
                <a:latin typeface="Arial"/>
                <a:ea typeface="Arial"/>
              </a:rPr>
              <a:t>93C56: 256B, </a:t>
            </a:r>
            <a:r>
              <a:rPr b="0" lang="ko-KR" sz="900" spc="-1" strike="noStrike">
                <a:solidFill>
                  <a:srgbClr val="666666"/>
                </a:solidFill>
                <a:latin typeface="Arial"/>
                <a:ea typeface="Arial"/>
              </a:rPr>
              <a:t>자동 식별</a:t>
            </a:r>
            <a:r>
              <a:rPr b="0" lang="en-US" sz="900" spc="-1" strike="noStrike">
                <a:solidFill>
                  <a:srgbClr val="666666"/>
                </a:solidFill>
                <a:latin typeface="Arial"/>
                <a:ea typeface="Arial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소스 파일 구조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457200" y="1005840"/>
            <a:ext cx="2559960" cy="594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Text 3"/>
          <p:cNvSpPr/>
          <p:nvPr/>
        </p:nvSpPr>
        <p:spPr>
          <a:xfrm>
            <a:off x="548640" y="1005840"/>
            <a:ext cx="2377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ee93c56.h / .c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1" name="Text 4"/>
          <p:cNvSpPr/>
          <p:nvPr/>
        </p:nvSpPr>
        <p:spPr>
          <a:xfrm>
            <a:off x="3200400" y="1005840"/>
            <a:ext cx="548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93C56 Microwire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비트뱅 드라이버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GPIO CLK/DIN/DOUT + CD4067 MUX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제어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457200" y="1783080"/>
            <a:ext cx="2559960" cy="594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1783080"/>
            <a:ext cx="2377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sk9822.h / .c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4" name="Text 7"/>
          <p:cNvSpPr/>
          <p:nvPr/>
        </p:nvSpPr>
        <p:spPr>
          <a:xfrm>
            <a:off x="3200400" y="1783080"/>
            <a:ext cx="548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SK9822 (APA102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호환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) LED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드라이버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SPI1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프로토콜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, 12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개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LED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제어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457200" y="2560320"/>
            <a:ext cx="2559960" cy="594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Text 9"/>
          <p:cNvSpPr/>
          <p:nvPr/>
        </p:nvSpPr>
        <p:spPr>
          <a:xfrm>
            <a:off x="548640" y="2560320"/>
            <a:ext cx="2377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voice_data.h / .c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3200400" y="2560320"/>
            <a:ext cx="548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음성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μ-law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데이터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(22.05kHz 8bit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모노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gen_voice.py (Edge Neural TTS)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457200" y="3337560"/>
            <a:ext cx="2559960" cy="594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548640" y="3337560"/>
            <a:ext cx="2377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app_freertos.c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3200400" y="3337560"/>
            <a:ext cx="548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메인 상태 머신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+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보드 감지 태스크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LED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쇼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,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검사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,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프로그래밍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,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음성 재생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457200" y="4114800"/>
            <a:ext cx="2559960" cy="594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548640" y="4114800"/>
            <a:ext cx="2377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main.c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3200400" y="4114800"/>
            <a:ext cx="548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주변장치 초기화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(SPI1, I2S3, UART1)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GPIO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초기화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, FreeRTOS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커널 시작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FreeRTOS </a:t>
            </a: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태스크 구조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5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457200" y="100584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Text 3"/>
          <p:cNvSpPr/>
          <p:nvPr/>
        </p:nvSpPr>
        <p:spPr>
          <a:xfrm>
            <a:off x="548640" y="100584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ffffff"/>
                </a:solidFill>
                <a:latin typeface="Arial"/>
                <a:ea typeface="Arial"/>
              </a:rPr>
              <a:t>태스크 이름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8" name="Text 4"/>
          <p:cNvSpPr/>
          <p:nvPr/>
        </p:nvSpPr>
        <p:spPr>
          <a:xfrm>
            <a:off x="2560320" y="100584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ffffff"/>
                </a:solidFill>
                <a:latin typeface="Arial"/>
                <a:ea typeface="Arial"/>
              </a:rPr>
              <a:t>우선순위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9" name="Text 5"/>
          <p:cNvSpPr/>
          <p:nvPr/>
        </p:nvSpPr>
        <p:spPr>
          <a:xfrm>
            <a:off x="3931920" y="100584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ffffff"/>
                </a:solidFill>
                <a:latin typeface="Arial"/>
                <a:ea typeface="Arial"/>
              </a:rPr>
              <a:t>스택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0" name="Text 6"/>
          <p:cNvSpPr/>
          <p:nvPr/>
        </p:nvSpPr>
        <p:spPr>
          <a:xfrm>
            <a:off x="5029200" y="100584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ffffff"/>
                </a:solidFill>
                <a:latin typeface="Arial"/>
                <a:ea typeface="Arial"/>
              </a:rPr>
              <a:t>역할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457200" y="1463040"/>
            <a:ext cx="8229240" cy="59400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" name="Text 8"/>
          <p:cNvSpPr/>
          <p:nvPr/>
        </p:nvSpPr>
        <p:spPr>
          <a:xfrm>
            <a:off x="548640" y="146304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onsolas"/>
                <a:ea typeface="Consolas"/>
              </a:rPr>
              <a:t>defaultTask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3" name="Text 9"/>
          <p:cNvSpPr/>
          <p:nvPr/>
        </p:nvSpPr>
        <p:spPr>
          <a:xfrm>
            <a:off x="2560320" y="1463040"/>
            <a:ext cx="1371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Normal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3931920" y="1463040"/>
            <a:ext cx="10969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128x4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5029200" y="1463040"/>
            <a:ext cx="3657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빈 루프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(CubeMX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자동 생성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457200" y="2103120"/>
            <a:ext cx="8229240" cy="594000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548640" y="210312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onsolas"/>
                <a:ea typeface="Consolas"/>
              </a:rPr>
              <a:t>mainAppTask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2560320" y="2103120"/>
            <a:ext cx="1371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Normal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89" name="Text 15"/>
          <p:cNvSpPr/>
          <p:nvPr/>
        </p:nvSpPr>
        <p:spPr>
          <a:xfrm>
            <a:off x="3931920" y="2103120"/>
            <a:ext cx="10969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256x4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5029200" y="2103120"/>
            <a:ext cx="3657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LED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쇼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+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메모리 검사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+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프로그래밍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+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음성 재생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457200" y="2743200"/>
            <a:ext cx="8229240" cy="59400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2" name="Text 18"/>
          <p:cNvSpPr/>
          <p:nvPr/>
        </p:nvSpPr>
        <p:spPr>
          <a:xfrm>
            <a:off x="548640" y="274320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onsolas"/>
                <a:ea typeface="Consolas"/>
              </a:rPr>
              <a:t>detectTask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2560320" y="2743200"/>
            <a:ext cx="1371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BelowNormal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3931920" y="2743200"/>
            <a:ext cx="10969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256x4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5" name="Text 21"/>
          <p:cNvSpPr/>
          <p:nvPr/>
        </p:nvSpPr>
        <p:spPr>
          <a:xfrm>
            <a:off x="5029200" y="2743200"/>
            <a:ext cx="3657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백그라운드 보드 감지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(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읽기 전용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,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안전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6" name="Shape 22"/>
          <p:cNvSpPr/>
          <p:nvPr/>
        </p:nvSpPr>
        <p:spPr>
          <a:xfrm>
            <a:off x="457200" y="347472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Text 23"/>
          <p:cNvSpPr/>
          <p:nvPr/>
        </p:nvSpPr>
        <p:spPr>
          <a:xfrm>
            <a:off x="640080" y="347472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태스크 간 통신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(volatile 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전역 변수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640080" y="397764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onsolas"/>
                <a:ea typeface="Consolas"/>
              </a:rPr>
              <a:t>g_board_present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 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보드 감지 플래그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(true/false)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onsolas"/>
                <a:ea typeface="Consolas"/>
              </a:rPr>
              <a:t>g_detected[12] 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 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칩별 감지 상태 배열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Consolas"/>
                <a:ea typeface="Consolas"/>
              </a:rPr>
              <a:t>g_detect_enable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 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감지 태스크 활성화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/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비활성화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상태 머신 흐름도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0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548640" y="1005840"/>
            <a:ext cx="502560" cy="502560"/>
          </a:xfrm>
          <a:prstGeom prst="ellipse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2" name="Text 3"/>
          <p:cNvSpPr/>
          <p:nvPr/>
        </p:nvSpPr>
        <p:spPr>
          <a:xfrm>
            <a:off x="548640" y="10058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Arial Black"/>
                <a:ea typeface="Arial Black"/>
              </a:rPr>
              <a:t>A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1234440" y="100584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전원 </a:t>
            </a:r>
            <a:r>
              <a:rPr b="1" lang="en-US" sz="1300" spc="-1" strike="noStrike">
                <a:solidFill>
                  <a:srgbClr val="000000"/>
                </a:solidFill>
                <a:latin typeface="Arial"/>
                <a:ea typeface="Arial"/>
              </a:rPr>
              <a:t>ON + LED </a:t>
            </a: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쇼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3566160" y="1005840"/>
            <a:ext cx="512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인트로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: "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디에스이 아이엔시의 디아지 팁용 프로그래머입니다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팁 보드를 올려주세요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 + LED 8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패턴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(A~H)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5" name="Shape 6"/>
          <p:cNvSpPr/>
          <p:nvPr/>
        </p:nvSpPr>
        <p:spPr>
          <a:xfrm>
            <a:off x="795240" y="1508760"/>
            <a:ext cx="360" cy="320040"/>
          </a:xfrm>
          <a:prstGeom prst="line">
            <a:avLst/>
          </a:prstGeom>
          <a:ln w="19050">
            <a:solidFill>
              <a:srgbClr val="aaaa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6" name="Shape 7"/>
          <p:cNvSpPr/>
          <p:nvPr/>
        </p:nvSpPr>
        <p:spPr>
          <a:xfrm>
            <a:off x="548640" y="1783080"/>
            <a:ext cx="502560" cy="502560"/>
          </a:xfrm>
          <a:prstGeom prst="ellipse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" name="Text 8"/>
          <p:cNvSpPr/>
          <p:nvPr/>
        </p:nvSpPr>
        <p:spPr>
          <a:xfrm>
            <a:off x="548640" y="178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Arial Black"/>
                <a:ea typeface="Arial Black"/>
              </a:rPr>
              <a:t>B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1234440" y="178308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보드 감지 </a:t>
            </a:r>
            <a:r>
              <a:rPr b="1" lang="en-US" sz="1300" spc="-1" strike="noStrike">
                <a:solidFill>
                  <a:srgbClr val="000000"/>
                </a:solidFill>
                <a:latin typeface="Arial"/>
                <a:ea typeface="Arial"/>
              </a:rPr>
              <a:t>+ </a:t>
            </a: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칩 식별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3566160" y="1783080"/>
            <a:ext cx="512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detectTask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백그라운드 감지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-&gt;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안정화 확인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칩 식별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: "93C56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보드입니다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 / "93C46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보드입니다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0" name="Shape 11"/>
          <p:cNvSpPr/>
          <p:nvPr/>
        </p:nvSpPr>
        <p:spPr>
          <a:xfrm>
            <a:off x="795240" y="2286000"/>
            <a:ext cx="360" cy="320040"/>
          </a:xfrm>
          <a:prstGeom prst="line">
            <a:avLst/>
          </a:prstGeom>
          <a:ln w="19050">
            <a:solidFill>
              <a:srgbClr val="aaaa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548640" y="2560320"/>
            <a:ext cx="502560" cy="502560"/>
          </a:xfrm>
          <a:prstGeom prst="ellipse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25603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Arial Black"/>
                <a:ea typeface="Arial Black"/>
              </a:rPr>
              <a:t>C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1234440" y="256032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메모리 검사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3566160" y="2560320"/>
            <a:ext cx="512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0xAA, 0x55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쓰기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/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읽기 검증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(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전 비트 전환 확인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LED: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백색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=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정상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,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적색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=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불량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795240" y="3063240"/>
            <a:ext cx="360" cy="320040"/>
          </a:xfrm>
          <a:prstGeom prst="line">
            <a:avLst/>
          </a:prstGeom>
          <a:ln w="19050">
            <a:solidFill>
              <a:srgbClr val="aaaa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6" name="Shape 17"/>
          <p:cNvSpPr/>
          <p:nvPr/>
        </p:nvSpPr>
        <p:spPr>
          <a:xfrm>
            <a:off x="548640" y="3337560"/>
            <a:ext cx="502560" cy="502560"/>
          </a:xfrm>
          <a:prstGeom prst="ellipse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548640" y="33375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Arial Black"/>
                <a:ea typeface="Arial Black"/>
              </a:rPr>
              <a:t>D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1234440" y="333756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프로그래밍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19" name="Text 20"/>
          <p:cNvSpPr/>
          <p:nvPr/>
        </p:nvSpPr>
        <p:spPr>
          <a:xfrm>
            <a:off x="3566160" y="3337560"/>
            <a:ext cx="512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0x00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쓰기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+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검증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(93C46:128B / 93C56:256B)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LED: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청색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=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완료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,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적색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=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불량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0" name="Shape 21"/>
          <p:cNvSpPr/>
          <p:nvPr/>
        </p:nvSpPr>
        <p:spPr>
          <a:xfrm>
            <a:off x="795240" y="3840480"/>
            <a:ext cx="360" cy="320040"/>
          </a:xfrm>
          <a:prstGeom prst="line">
            <a:avLst/>
          </a:prstGeom>
          <a:ln w="19050">
            <a:solidFill>
              <a:srgbClr val="aaaa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" name="Shape 22"/>
          <p:cNvSpPr/>
          <p:nvPr/>
        </p:nvSpPr>
        <p:spPr>
          <a:xfrm>
            <a:off x="548640" y="4114800"/>
            <a:ext cx="502560" cy="502560"/>
          </a:xfrm>
          <a:prstGeom prst="ellipse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548640" y="41148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Arial Black"/>
                <a:ea typeface="Arial Black"/>
              </a:rPr>
              <a:t>E</a:t>
            </a:r>
            <a:endParaRPr b="0" lang="en-US" sz="1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3" name="Text 24"/>
          <p:cNvSpPr/>
          <p:nvPr/>
        </p:nvSpPr>
        <p:spPr>
          <a:xfrm>
            <a:off x="1234440" y="411480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완료 </a:t>
            </a:r>
            <a:r>
              <a:rPr b="1" lang="en-US" sz="1300" spc="-1" strike="noStrike">
                <a:solidFill>
                  <a:srgbClr val="000000"/>
                </a:solidFill>
                <a:latin typeface="Arial"/>
                <a:ea typeface="Arial"/>
              </a:rPr>
              <a:t>/ </a:t>
            </a: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보드 제거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3566160" y="4114800"/>
            <a:ext cx="512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프로그램 완료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 -&gt; "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보드를 분리하세요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 (30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초 반복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분리 감지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-&gt; "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보드가 분리되었습니다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" -&gt;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상태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A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복귀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74320" y="48006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aaaaaa"/>
                </a:solidFill>
                <a:latin typeface="Arial"/>
                <a:ea typeface="Arial"/>
              </a:rPr>
              <a:t>E -&gt; A  (</a:t>
            </a:r>
            <a:r>
              <a:rPr b="0" lang="ko-KR" sz="800" spc="-1" strike="noStrike">
                <a:solidFill>
                  <a:srgbClr val="aaaaaa"/>
                </a:solidFill>
                <a:latin typeface="Arial"/>
                <a:ea typeface="Arial"/>
              </a:rPr>
              <a:t>무한 반복</a:t>
            </a:r>
            <a:r>
              <a:rPr b="0" lang="en-US" sz="800" spc="-1" strike="noStrike">
                <a:solidFill>
                  <a:srgbClr val="aaaaaa"/>
                </a:solidFill>
                <a:latin typeface="Arial"/>
                <a:ea typeface="Arial"/>
              </a:rPr>
              <a:t>)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LED </a:t>
            </a: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쇼 </a:t>
            </a:r>
            <a:r>
              <a:rPr b="1" lang="en-US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- 8</a:t>
            </a: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가지 패턴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7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8" name="Shape 2"/>
          <p:cNvSpPr/>
          <p:nvPr/>
        </p:nvSpPr>
        <p:spPr>
          <a:xfrm>
            <a:off x="457200" y="100584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457200" y="10058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A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960120" y="100584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번호순 왕복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960120" y="120708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U19-&gt;U30-&gt;U19 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순차 </a:t>
            </a: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ON-OFF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4754880" y="100584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4754880" y="10058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B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5257800" y="100584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세로 지그재그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5257800" y="120708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열 단위 상하 뱀 형태 이동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6" name="Shape 10"/>
          <p:cNvSpPr/>
          <p:nvPr/>
        </p:nvSpPr>
        <p:spPr>
          <a:xfrm>
            <a:off x="457200" y="201168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457200" y="201168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C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960120" y="201168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대각선 쓸기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960120" y="22129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대각선 그룹이 좌상</a:t>
            </a: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-&gt;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우하 이동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0" name="Shape 14"/>
          <p:cNvSpPr/>
          <p:nvPr/>
        </p:nvSpPr>
        <p:spPr>
          <a:xfrm>
            <a:off x="4754880" y="201168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" name="Text 15"/>
          <p:cNvSpPr/>
          <p:nvPr/>
        </p:nvSpPr>
        <p:spPr>
          <a:xfrm>
            <a:off x="4754880" y="201168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D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2" name="Text 16"/>
          <p:cNvSpPr/>
          <p:nvPr/>
        </p:nvSpPr>
        <p:spPr>
          <a:xfrm>
            <a:off x="5257800" y="201168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소용돌이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5257800" y="22129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외곽에서 중심으로 나선 이동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4" name="Shape 18"/>
          <p:cNvSpPr/>
          <p:nvPr/>
        </p:nvSpPr>
        <p:spPr>
          <a:xfrm>
            <a:off x="457200" y="301752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" name="Text 19"/>
          <p:cNvSpPr/>
          <p:nvPr/>
        </p:nvSpPr>
        <p:spPr>
          <a:xfrm>
            <a:off x="457200" y="301752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E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6" name="Text 20"/>
          <p:cNvSpPr/>
          <p:nvPr/>
        </p:nvSpPr>
        <p:spPr>
          <a:xfrm>
            <a:off x="960120" y="3017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확산</a:t>
            </a: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Arial"/>
              </a:rPr>
              <a:t>/</a:t>
            </a: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수축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7" name="Text 21"/>
          <p:cNvSpPr/>
          <p:nvPr/>
        </p:nvSpPr>
        <p:spPr>
          <a:xfrm>
            <a:off x="960120" y="321876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중심에서 퍼졌다 다시 모임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48" name="Shape 22"/>
          <p:cNvSpPr/>
          <p:nvPr/>
        </p:nvSpPr>
        <p:spPr>
          <a:xfrm>
            <a:off x="4754880" y="301752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9" name="Text 23"/>
          <p:cNvSpPr/>
          <p:nvPr/>
        </p:nvSpPr>
        <p:spPr>
          <a:xfrm>
            <a:off x="4754880" y="301752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F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0" name="Text 24"/>
          <p:cNvSpPr/>
          <p:nvPr/>
        </p:nvSpPr>
        <p:spPr>
          <a:xfrm>
            <a:off x="5257800" y="3017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랜덤 반짝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1" name="Text 25"/>
          <p:cNvSpPr/>
          <p:nvPr/>
        </p:nvSpPr>
        <p:spPr>
          <a:xfrm>
            <a:off x="5257800" y="321876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무작위 위치에 별처럼 반짝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2" name="Shape 26"/>
          <p:cNvSpPr/>
          <p:nvPr/>
        </p:nvSpPr>
        <p:spPr>
          <a:xfrm>
            <a:off x="457200" y="402336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3" name="Text 27"/>
          <p:cNvSpPr/>
          <p:nvPr/>
        </p:nvSpPr>
        <p:spPr>
          <a:xfrm>
            <a:off x="457200" y="402336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G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4" name="Text 28"/>
          <p:cNvSpPr/>
          <p:nvPr/>
        </p:nvSpPr>
        <p:spPr>
          <a:xfrm>
            <a:off x="960120" y="402336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행</a:t>
            </a: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Arial"/>
              </a:rPr>
              <a:t>/</a:t>
            </a: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열 스캔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5" name="Text 29"/>
          <p:cNvSpPr/>
          <p:nvPr/>
        </p:nvSpPr>
        <p:spPr>
          <a:xfrm>
            <a:off x="960120" y="422460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1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행 전체 </a:t>
            </a: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ON-&gt;OFF, 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다음 열 스캔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6" name="Shape 30"/>
          <p:cNvSpPr/>
          <p:nvPr/>
        </p:nvSpPr>
        <p:spPr>
          <a:xfrm>
            <a:off x="4754880" y="4023360"/>
            <a:ext cx="41112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7" name="Text 31"/>
          <p:cNvSpPr/>
          <p:nvPr/>
        </p:nvSpPr>
        <p:spPr>
          <a:xfrm>
            <a:off x="4754880" y="402336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H</a:t>
            </a:r>
            <a:endParaRPr b="0" lang="en-US" sz="1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8" name="Text 32"/>
          <p:cNvSpPr/>
          <p:nvPr/>
        </p:nvSpPr>
        <p:spPr>
          <a:xfrm>
            <a:off x="5257800" y="402336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0000"/>
                </a:solidFill>
                <a:latin typeface="Arial"/>
                <a:ea typeface="Arial"/>
              </a:rPr>
              <a:t>체커보드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59" name="Text 33"/>
          <p:cNvSpPr/>
          <p:nvPr/>
        </p:nvSpPr>
        <p:spPr>
          <a:xfrm>
            <a:off x="5257800" y="422460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체스판처럼 흑백 교대 깜빡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0" name="Text 34"/>
          <p:cNvSpPr/>
          <p:nvPr/>
        </p:nvSpPr>
        <p:spPr>
          <a:xfrm>
            <a:off x="457200" y="45720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ko-KR" sz="1000" spc="-1" strike="noStrike">
                <a:solidFill>
                  <a:srgbClr val="aaaaaa"/>
                </a:solidFill>
                <a:latin typeface="Arial"/>
                <a:ea typeface="Arial"/>
              </a:rPr>
              <a:t>각 패턴마다 다른 색상 사용 </a:t>
            </a:r>
            <a:r>
              <a:rPr b="0" i="1" lang="en-US" sz="1000" spc="-1" strike="noStrike">
                <a:solidFill>
                  <a:srgbClr val="aaaaaa"/>
                </a:solidFill>
                <a:latin typeface="Arial"/>
                <a:ea typeface="Arial"/>
              </a:rPr>
              <a:t>(</a:t>
            </a:r>
            <a:r>
              <a:rPr b="0" i="1" lang="ko-KR" sz="1000" spc="-1" strike="noStrike">
                <a:solidFill>
                  <a:srgbClr val="aaaaaa"/>
                </a:solidFill>
                <a:latin typeface="Arial"/>
                <a:ea typeface="Arial"/>
              </a:rPr>
              <a:t>등휘도 보정 적용</a:t>
            </a:r>
            <a:r>
              <a:rPr b="0" i="1" lang="en-US" sz="1000" spc="-1" strike="noStrike">
                <a:solidFill>
                  <a:srgbClr val="aaaaaa"/>
                </a:solidFill>
                <a:latin typeface="Arial"/>
                <a:ea typeface="Arial"/>
              </a:rPr>
              <a:t>).  A~H </a:t>
            </a:r>
            <a:r>
              <a:rPr b="0" i="1" lang="ko-KR" sz="1000" spc="-1" strike="noStrike">
                <a:solidFill>
                  <a:srgbClr val="aaaaaa"/>
                </a:solidFill>
                <a:latin typeface="Arial"/>
                <a:ea typeface="Arial"/>
              </a:rPr>
              <a:t>전체 완료 후 음성 출력</a:t>
            </a:r>
            <a:r>
              <a:rPr b="0" i="1" lang="en-US" sz="1000" spc="-1" strike="noStrike">
                <a:solidFill>
                  <a:srgbClr val="aaaaaa"/>
                </a:solidFill>
                <a:latin typeface="Arial"/>
                <a:ea typeface="Arial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93C56 Microwire </a:t>
            </a: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프로토콜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2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3" name="Shape 2"/>
          <p:cNvSpPr/>
          <p:nvPr/>
        </p:nvSpPr>
        <p:spPr>
          <a:xfrm>
            <a:off x="457200" y="91440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640080" y="91440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93C46 vs 93C56 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비교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640080" y="1417320"/>
            <a:ext cx="7863480" cy="3196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731520" y="14173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ffffff"/>
                </a:solidFill>
                <a:latin typeface="Arial"/>
                <a:ea typeface="Arial"/>
              </a:rPr>
              <a:t>항목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3200400" y="141732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93C46 (x8)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5943600" y="141732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93C56 (x8)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9" name="Shape 8"/>
          <p:cNvSpPr/>
          <p:nvPr/>
        </p:nvSpPr>
        <p:spPr>
          <a:xfrm>
            <a:off x="640080" y="1755720"/>
            <a:ext cx="7863480" cy="25560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731520" y="17557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용량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3200400" y="1755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1Kbit (128 x 8)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5943600" y="1755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2Kbit (256 x 8)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73" name="Shape 12"/>
          <p:cNvSpPr/>
          <p:nvPr/>
        </p:nvSpPr>
        <p:spPr>
          <a:xfrm>
            <a:off x="640080" y="2030040"/>
            <a:ext cx="7863480" cy="255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731520" y="203004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주소 비트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3200400" y="20300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7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비트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5943600" y="20300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8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비트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77" name="Shape 16"/>
          <p:cNvSpPr/>
          <p:nvPr/>
        </p:nvSpPr>
        <p:spPr>
          <a:xfrm>
            <a:off x="640080" y="2304360"/>
            <a:ext cx="7863480" cy="25560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8" name="Text 17"/>
          <p:cNvSpPr/>
          <p:nvPr/>
        </p:nvSpPr>
        <p:spPr>
          <a:xfrm>
            <a:off x="731520" y="230436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명령 길이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3200400" y="230436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SB+OP+7 = 10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비트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0" name="Text 19"/>
          <p:cNvSpPr/>
          <p:nvPr/>
        </p:nvSpPr>
        <p:spPr>
          <a:xfrm>
            <a:off x="5943600" y="230436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SB+OP+8 = 11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비트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1" name="Shape 20"/>
          <p:cNvSpPr/>
          <p:nvPr/>
        </p:nvSpPr>
        <p:spPr>
          <a:xfrm>
            <a:off x="640080" y="2578680"/>
            <a:ext cx="7863480" cy="255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2" name="Text 21"/>
          <p:cNvSpPr/>
          <p:nvPr/>
        </p:nvSpPr>
        <p:spPr>
          <a:xfrm>
            <a:off x="731520" y="257868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식별 방법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3" name="Text 22"/>
          <p:cNvSpPr/>
          <p:nvPr/>
        </p:nvSpPr>
        <p:spPr>
          <a:xfrm>
            <a:off x="3200400" y="257868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주소 </a:t>
            </a: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200 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쓰기 실패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4" name="Text 23"/>
          <p:cNvSpPr/>
          <p:nvPr/>
        </p:nvSpPr>
        <p:spPr>
          <a:xfrm>
            <a:off x="5943600" y="257868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주소 </a:t>
            </a: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200 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쓰기 성공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5" name="Text 24"/>
          <p:cNvSpPr/>
          <p:nvPr/>
        </p:nvSpPr>
        <p:spPr>
          <a:xfrm>
            <a:off x="640080" y="2880360"/>
            <a:ext cx="7863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ko-KR" sz="900" spc="-1" strike="noStrike">
                <a:solidFill>
                  <a:srgbClr val="666666"/>
                </a:solidFill>
                <a:latin typeface="Arial"/>
                <a:ea typeface="Arial"/>
              </a:rPr>
              <a:t>프로그램이 자동으로 식별하여 주소 비트와 메모리 크기를 전환합니다</a:t>
            </a:r>
            <a:r>
              <a:rPr b="0" i="1" lang="en-US" sz="900" spc="-1" strike="noStrike">
                <a:solidFill>
                  <a:srgbClr val="666666"/>
                </a:solidFill>
                <a:latin typeface="Arial"/>
                <a:ea typeface="Arial"/>
              </a:rPr>
              <a:t>.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6" name="Shape 25"/>
          <p:cNvSpPr/>
          <p:nvPr/>
        </p:nvSpPr>
        <p:spPr>
          <a:xfrm>
            <a:off x="457200" y="320040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7" name="Text 26"/>
          <p:cNvSpPr/>
          <p:nvPr/>
        </p:nvSpPr>
        <p:spPr>
          <a:xfrm>
            <a:off x="640080" y="320040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명령어 형식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(x8 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모드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88" name="Shape 27"/>
          <p:cNvSpPr/>
          <p:nvPr/>
        </p:nvSpPr>
        <p:spPr>
          <a:xfrm>
            <a:off x="914400" y="3703320"/>
            <a:ext cx="456840" cy="4568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9" name="Text 28"/>
          <p:cNvSpPr/>
          <p:nvPr/>
        </p:nvSpPr>
        <p:spPr>
          <a:xfrm>
            <a:off x="914400" y="37033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Consolas"/>
                <a:ea typeface="Consolas"/>
              </a:rPr>
              <a:t>SB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90" name="Text 29"/>
          <p:cNvSpPr/>
          <p:nvPr/>
        </p:nvSpPr>
        <p:spPr>
          <a:xfrm>
            <a:off x="914400" y="39776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66666"/>
                </a:solidFill>
                <a:latin typeface="Arial"/>
                <a:ea typeface="Arial"/>
              </a:rPr>
              <a:t>1</a:t>
            </a: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비트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91" name="Shape 30"/>
          <p:cNvSpPr/>
          <p:nvPr/>
        </p:nvSpPr>
        <p:spPr>
          <a:xfrm>
            <a:off x="1417320" y="3703320"/>
            <a:ext cx="639720" cy="4568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2" name="Text 31"/>
          <p:cNvSpPr/>
          <p:nvPr/>
        </p:nvSpPr>
        <p:spPr>
          <a:xfrm>
            <a:off x="1417320" y="3703320"/>
            <a:ext cx="639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Consolas"/>
                <a:ea typeface="Consolas"/>
              </a:rPr>
              <a:t>OP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93" name="Text 32"/>
          <p:cNvSpPr/>
          <p:nvPr/>
        </p:nvSpPr>
        <p:spPr>
          <a:xfrm>
            <a:off x="1417320" y="3977640"/>
            <a:ext cx="639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66666"/>
                </a:solidFill>
                <a:latin typeface="Arial"/>
                <a:ea typeface="Arial"/>
              </a:rPr>
              <a:t>2</a:t>
            </a: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비트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94" name="Shape 33"/>
          <p:cNvSpPr/>
          <p:nvPr/>
        </p:nvSpPr>
        <p:spPr>
          <a:xfrm>
            <a:off x="2103120" y="3703320"/>
            <a:ext cx="2011320" cy="4568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5" name="Text 34"/>
          <p:cNvSpPr/>
          <p:nvPr/>
        </p:nvSpPr>
        <p:spPr>
          <a:xfrm>
            <a:off x="2103120" y="370332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Consolas"/>
                <a:ea typeface="Consolas"/>
              </a:rPr>
              <a:t>주소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96" name="Text 35"/>
          <p:cNvSpPr/>
          <p:nvPr/>
        </p:nvSpPr>
        <p:spPr>
          <a:xfrm>
            <a:off x="2103120" y="3977640"/>
            <a:ext cx="20113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66666"/>
                </a:solidFill>
                <a:latin typeface="Arial"/>
                <a:ea typeface="Arial"/>
              </a:rPr>
              <a:t>7 or 8</a:t>
            </a: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비트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97" name="Shape 36"/>
          <p:cNvSpPr/>
          <p:nvPr/>
        </p:nvSpPr>
        <p:spPr>
          <a:xfrm>
            <a:off x="4160520" y="3703320"/>
            <a:ext cx="2285640" cy="4568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8" name="Text 37"/>
          <p:cNvSpPr/>
          <p:nvPr/>
        </p:nvSpPr>
        <p:spPr>
          <a:xfrm>
            <a:off x="4160520" y="37033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Consolas"/>
                <a:ea typeface="Consolas"/>
              </a:rPr>
              <a:t>데이터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99" name="Text 38"/>
          <p:cNvSpPr/>
          <p:nvPr/>
        </p:nvSpPr>
        <p:spPr>
          <a:xfrm>
            <a:off x="4160520" y="39776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66666"/>
                </a:solidFill>
                <a:latin typeface="Arial"/>
                <a:ea typeface="Arial"/>
              </a:rPr>
              <a:t>8</a:t>
            </a: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비트 </a:t>
            </a:r>
            <a:r>
              <a:rPr b="0" lang="en-US" sz="800" spc="-1" strike="noStrike">
                <a:solidFill>
                  <a:srgbClr val="666666"/>
                </a:solidFill>
                <a:latin typeface="Arial"/>
                <a:ea typeface="Arial"/>
              </a:rPr>
              <a:t>(</a:t>
            </a: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읽기</a:t>
            </a:r>
            <a:r>
              <a:rPr b="0" lang="en-US" sz="800" spc="-1" strike="noStrike">
                <a:solidFill>
                  <a:srgbClr val="666666"/>
                </a:solidFill>
                <a:latin typeface="Arial"/>
                <a:ea typeface="Arial"/>
              </a:rPr>
              <a:t>/</a:t>
            </a: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쓰기</a:t>
            </a:r>
            <a:r>
              <a:rPr b="0" lang="en-US" sz="800" spc="-1" strike="noStrike">
                <a:solidFill>
                  <a:srgbClr val="666666"/>
                </a:solidFill>
                <a:latin typeface="Arial"/>
                <a:ea typeface="Arial"/>
              </a:rPr>
              <a:t>)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0" name="Shape 39"/>
          <p:cNvSpPr/>
          <p:nvPr/>
        </p:nvSpPr>
        <p:spPr>
          <a:xfrm>
            <a:off x="457200" y="434340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1" name="Text 40"/>
          <p:cNvSpPr/>
          <p:nvPr/>
        </p:nvSpPr>
        <p:spPr>
          <a:xfrm>
            <a:off x="640080" y="434340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주요 명령어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2" name="Text 41"/>
          <p:cNvSpPr/>
          <p:nvPr/>
        </p:nvSpPr>
        <p:spPr>
          <a:xfrm>
            <a:off x="640080" y="4773240"/>
            <a:ext cx="2011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0000"/>
                </a:solidFill>
                <a:latin typeface="Consolas"/>
                <a:ea typeface="Consolas"/>
              </a:rPr>
              <a:t>READ  (10)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3" name="Text 42"/>
          <p:cNvSpPr/>
          <p:nvPr/>
        </p:nvSpPr>
        <p:spPr>
          <a:xfrm>
            <a:off x="2651760" y="477324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00" spc="-1" strike="noStrike">
                <a:solidFill>
                  <a:srgbClr val="333333"/>
                </a:solidFill>
                <a:latin typeface="Arial"/>
                <a:ea typeface="Arial"/>
              </a:rPr>
              <a:t>주소에서 </a:t>
            </a:r>
            <a:r>
              <a:rPr b="0" lang="en-US" sz="900" spc="-1" strike="noStrike">
                <a:solidFill>
                  <a:srgbClr val="333333"/>
                </a:solidFill>
                <a:latin typeface="Arial"/>
                <a:ea typeface="Arial"/>
              </a:rPr>
              <a:t>8</a:t>
            </a:r>
            <a:r>
              <a:rPr b="0" lang="ko-KR" sz="900" spc="-1" strike="noStrike">
                <a:solidFill>
                  <a:srgbClr val="333333"/>
                </a:solidFill>
                <a:latin typeface="Arial"/>
                <a:ea typeface="Arial"/>
              </a:rPr>
              <a:t>비트 읽기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4" name="Text 43"/>
          <p:cNvSpPr/>
          <p:nvPr/>
        </p:nvSpPr>
        <p:spPr>
          <a:xfrm>
            <a:off x="4846320" y="4773240"/>
            <a:ext cx="2011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0000"/>
                </a:solidFill>
                <a:latin typeface="Consolas"/>
                <a:ea typeface="Consolas"/>
              </a:rPr>
              <a:t>EWEN (00+11xx)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5" name="Text 44"/>
          <p:cNvSpPr/>
          <p:nvPr/>
        </p:nvSpPr>
        <p:spPr>
          <a:xfrm>
            <a:off x="6858000" y="477324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00" spc="-1" strike="noStrike">
                <a:solidFill>
                  <a:srgbClr val="333333"/>
                </a:solidFill>
                <a:latin typeface="Arial"/>
                <a:ea typeface="Arial"/>
              </a:rPr>
              <a:t>쓰기 허용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6" name="Text 45"/>
          <p:cNvSpPr/>
          <p:nvPr/>
        </p:nvSpPr>
        <p:spPr>
          <a:xfrm>
            <a:off x="640080" y="4974480"/>
            <a:ext cx="2011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0000"/>
                </a:solidFill>
                <a:latin typeface="Consolas"/>
                <a:ea typeface="Consolas"/>
              </a:rPr>
              <a:t>WRITE (01)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7" name="Text 46"/>
          <p:cNvSpPr/>
          <p:nvPr/>
        </p:nvSpPr>
        <p:spPr>
          <a:xfrm>
            <a:off x="2651760" y="497448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00" spc="-1" strike="noStrike">
                <a:solidFill>
                  <a:srgbClr val="333333"/>
                </a:solidFill>
                <a:latin typeface="Arial"/>
                <a:ea typeface="Arial"/>
              </a:rPr>
              <a:t>주소에 </a:t>
            </a:r>
            <a:r>
              <a:rPr b="0" lang="en-US" sz="900" spc="-1" strike="noStrike">
                <a:solidFill>
                  <a:srgbClr val="333333"/>
                </a:solidFill>
                <a:latin typeface="Arial"/>
                <a:ea typeface="Arial"/>
              </a:rPr>
              <a:t>8</a:t>
            </a:r>
            <a:r>
              <a:rPr b="0" lang="ko-KR" sz="900" spc="-1" strike="noStrike">
                <a:solidFill>
                  <a:srgbClr val="333333"/>
                </a:solidFill>
                <a:latin typeface="Arial"/>
                <a:ea typeface="Arial"/>
              </a:rPr>
              <a:t>비트 쓰기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8" name="Text 47"/>
          <p:cNvSpPr/>
          <p:nvPr/>
        </p:nvSpPr>
        <p:spPr>
          <a:xfrm>
            <a:off x="4846320" y="4974480"/>
            <a:ext cx="2011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0000"/>
                </a:solidFill>
                <a:latin typeface="Consolas"/>
                <a:ea typeface="Consolas"/>
              </a:rPr>
              <a:t>EWDS (00+00xx)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09" name="Text 48"/>
          <p:cNvSpPr/>
          <p:nvPr/>
        </p:nvSpPr>
        <p:spPr>
          <a:xfrm>
            <a:off x="6858000" y="497448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00" spc="-1" strike="noStrike">
                <a:solidFill>
                  <a:srgbClr val="333333"/>
                </a:solidFill>
                <a:latin typeface="Arial"/>
                <a:ea typeface="Arial"/>
              </a:rPr>
              <a:t>쓰기 금지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메모리 셀 검사 방법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2" name="Shape 2"/>
          <p:cNvSpPr/>
          <p:nvPr/>
        </p:nvSpPr>
        <p:spPr>
          <a:xfrm>
            <a:off x="457200" y="91440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3" name="Text 3"/>
          <p:cNvSpPr/>
          <p:nvPr/>
        </p:nvSpPr>
        <p:spPr>
          <a:xfrm>
            <a:off x="640080" y="91440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0xAA / 0x55 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패턴 검사란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?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14" name="Text 4"/>
          <p:cNvSpPr/>
          <p:nvPr/>
        </p:nvSpPr>
        <p:spPr>
          <a:xfrm>
            <a:off x="640080" y="141732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33333"/>
                </a:solidFill>
                <a:latin typeface="Consolas"/>
                <a:ea typeface="Consolas"/>
              </a:rPr>
              <a:t>0xAA = 10101010  /  0x55 = 01010101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모든 비트가 </a:t>
            </a:r>
            <a:r>
              <a:rPr b="0" lang="en-US" sz="1200" spc="-1" strike="noStrike">
                <a:solidFill>
                  <a:srgbClr val="333333"/>
                </a:solidFill>
                <a:latin typeface="Arial"/>
                <a:ea typeface="Arial"/>
              </a:rPr>
              <a:t>0 -&gt; 1 -&gt; 0 </a:t>
            </a: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으로 전환되는지 확인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33333"/>
                </a:solidFill>
                <a:latin typeface="Arial"/>
                <a:ea typeface="Arial"/>
              </a:rPr>
              <a:t>8</a:t>
            </a: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비트 </a:t>
            </a:r>
            <a:r>
              <a:rPr b="0" lang="en-US" sz="1200" spc="-1" strike="noStrike">
                <a:solidFill>
                  <a:srgbClr val="333333"/>
                </a:solidFill>
                <a:latin typeface="Arial"/>
                <a:ea typeface="Arial"/>
              </a:rPr>
              <a:t>x 256</a:t>
            </a: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주소 </a:t>
            </a:r>
            <a:r>
              <a:rPr b="0" lang="en-US" sz="1200" spc="-1" strike="noStrike">
                <a:solidFill>
                  <a:srgbClr val="333333"/>
                </a:solidFill>
                <a:latin typeface="Arial"/>
                <a:ea typeface="Arial"/>
              </a:rPr>
              <a:t>x 2</a:t>
            </a: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패스 </a:t>
            </a:r>
            <a:r>
              <a:rPr b="0" lang="en-US" sz="1200" spc="-1" strike="noStrike">
                <a:solidFill>
                  <a:srgbClr val="333333"/>
                </a:solidFill>
                <a:latin typeface="Arial"/>
                <a:ea typeface="Arial"/>
              </a:rPr>
              <a:t>= </a:t>
            </a: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칩당 총 </a:t>
            </a:r>
            <a:r>
              <a:rPr b="0" lang="en-US" sz="1200" spc="-1" strike="noStrike">
                <a:solidFill>
                  <a:srgbClr val="333333"/>
                </a:solidFill>
                <a:latin typeface="Arial"/>
                <a:ea typeface="Arial"/>
              </a:rPr>
              <a:t>1,024</a:t>
            </a: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회 쓰기</a:t>
            </a:r>
            <a:r>
              <a:rPr b="0" lang="en-US" sz="1200" spc="-1" strike="noStrike">
                <a:solidFill>
                  <a:srgbClr val="333333"/>
                </a:solidFill>
                <a:latin typeface="Arial"/>
                <a:ea typeface="Arial"/>
              </a:rPr>
              <a:t>/</a:t>
            </a:r>
            <a:r>
              <a:rPr b="0" lang="ko-KR" sz="1200" spc="-1" strike="noStrike">
                <a:solidFill>
                  <a:srgbClr val="333333"/>
                </a:solidFill>
                <a:latin typeface="Arial"/>
                <a:ea typeface="Arial"/>
              </a:rPr>
              <a:t>읽기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15" name="Shape 5"/>
          <p:cNvSpPr/>
          <p:nvPr/>
        </p:nvSpPr>
        <p:spPr>
          <a:xfrm>
            <a:off x="457200" y="246888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640080" y="246888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검출 가능한 결함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17" name="Text 7"/>
          <p:cNvSpPr/>
          <p:nvPr/>
        </p:nvSpPr>
        <p:spPr>
          <a:xfrm>
            <a:off x="640080" y="29718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Pass 1:  AA </a:t>
            </a:r>
            <a:r>
              <a:rPr b="1" lang="ko-KR" sz="1100" spc="-1" strike="noStrike">
                <a:solidFill>
                  <a:srgbClr val="000000"/>
                </a:solidFill>
                <a:latin typeface="Arial"/>
                <a:ea typeface="Arial"/>
              </a:rPr>
              <a:t>쓰기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18" name="Shape 8"/>
          <p:cNvSpPr/>
          <p:nvPr/>
        </p:nvSpPr>
        <p:spPr>
          <a:xfrm>
            <a:off x="2560320" y="297180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9" name="Text 9"/>
          <p:cNvSpPr/>
          <p:nvPr/>
        </p:nvSpPr>
        <p:spPr>
          <a:xfrm>
            <a:off x="25603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20" name="Shape 10"/>
          <p:cNvSpPr/>
          <p:nvPr/>
        </p:nvSpPr>
        <p:spPr>
          <a:xfrm>
            <a:off x="3017520" y="297180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1" name="Text 11"/>
          <p:cNvSpPr/>
          <p:nvPr/>
        </p:nvSpPr>
        <p:spPr>
          <a:xfrm>
            <a:off x="30175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22" name="Shape 12"/>
          <p:cNvSpPr/>
          <p:nvPr/>
        </p:nvSpPr>
        <p:spPr>
          <a:xfrm>
            <a:off x="3474720" y="297180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3" name="Text 13"/>
          <p:cNvSpPr/>
          <p:nvPr/>
        </p:nvSpPr>
        <p:spPr>
          <a:xfrm>
            <a:off x="34747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24" name="Shape 14"/>
          <p:cNvSpPr/>
          <p:nvPr/>
        </p:nvSpPr>
        <p:spPr>
          <a:xfrm>
            <a:off x="3931920" y="297180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5" name="Text 15"/>
          <p:cNvSpPr/>
          <p:nvPr/>
        </p:nvSpPr>
        <p:spPr>
          <a:xfrm>
            <a:off x="39319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26" name="Shape 16"/>
          <p:cNvSpPr/>
          <p:nvPr/>
        </p:nvSpPr>
        <p:spPr>
          <a:xfrm>
            <a:off x="4389120" y="297180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7" name="Text 17"/>
          <p:cNvSpPr/>
          <p:nvPr/>
        </p:nvSpPr>
        <p:spPr>
          <a:xfrm>
            <a:off x="43891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28" name="Shape 18"/>
          <p:cNvSpPr/>
          <p:nvPr/>
        </p:nvSpPr>
        <p:spPr>
          <a:xfrm>
            <a:off x="4846320" y="297180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9" name="Text 19"/>
          <p:cNvSpPr/>
          <p:nvPr/>
        </p:nvSpPr>
        <p:spPr>
          <a:xfrm>
            <a:off x="48463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30" name="Shape 20"/>
          <p:cNvSpPr/>
          <p:nvPr/>
        </p:nvSpPr>
        <p:spPr>
          <a:xfrm>
            <a:off x="5303520" y="297180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1" name="Text 21"/>
          <p:cNvSpPr/>
          <p:nvPr/>
        </p:nvSpPr>
        <p:spPr>
          <a:xfrm>
            <a:off x="53035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32" name="Shape 22"/>
          <p:cNvSpPr/>
          <p:nvPr/>
        </p:nvSpPr>
        <p:spPr>
          <a:xfrm>
            <a:off x="5760720" y="297180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3" name="Text 23"/>
          <p:cNvSpPr/>
          <p:nvPr/>
        </p:nvSpPr>
        <p:spPr>
          <a:xfrm>
            <a:off x="5760720" y="297180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34" name="Text 24"/>
          <p:cNvSpPr/>
          <p:nvPr/>
        </p:nvSpPr>
        <p:spPr>
          <a:xfrm>
            <a:off x="640080" y="333756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Pass 2:  55 </a:t>
            </a:r>
            <a:r>
              <a:rPr b="1" lang="ko-KR" sz="1100" spc="-1" strike="noStrike">
                <a:solidFill>
                  <a:srgbClr val="000000"/>
                </a:solidFill>
                <a:latin typeface="Arial"/>
                <a:ea typeface="Arial"/>
              </a:rPr>
              <a:t>쓰기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35" name="Shape 25"/>
          <p:cNvSpPr/>
          <p:nvPr/>
        </p:nvSpPr>
        <p:spPr>
          <a:xfrm>
            <a:off x="2560320" y="333756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6" name="Text 26"/>
          <p:cNvSpPr/>
          <p:nvPr/>
        </p:nvSpPr>
        <p:spPr>
          <a:xfrm>
            <a:off x="25603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37" name="Shape 27"/>
          <p:cNvSpPr/>
          <p:nvPr/>
        </p:nvSpPr>
        <p:spPr>
          <a:xfrm>
            <a:off x="3017520" y="333756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8" name="Text 28"/>
          <p:cNvSpPr/>
          <p:nvPr/>
        </p:nvSpPr>
        <p:spPr>
          <a:xfrm>
            <a:off x="30175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39" name="Shape 29"/>
          <p:cNvSpPr/>
          <p:nvPr/>
        </p:nvSpPr>
        <p:spPr>
          <a:xfrm>
            <a:off x="3474720" y="333756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0" name="Text 30"/>
          <p:cNvSpPr/>
          <p:nvPr/>
        </p:nvSpPr>
        <p:spPr>
          <a:xfrm>
            <a:off x="34747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41" name="Shape 31"/>
          <p:cNvSpPr/>
          <p:nvPr/>
        </p:nvSpPr>
        <p:spPr>
          <a:xfrm>
            <a:off x="3931920" y="333756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2" name="Text 32"/>
          <p:cNvSpPr/>
          <p:nvPr/>
        </p:nvSpPr>
        <p:spPr>
          <a:xfrm>
            <a:off x="39319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43" name="Shape 33"/>
          <p:cNvSpPr/>
          <p:nvPr/>
        </p:nvSpPr>
        <p:spPr>
          <a:xfrm>
            <a:off x="4389120" y="333756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4" name="Text 34"/>
          <p:cNvSpPr/>
          <p:nvPr/>
        </p:nvSpPr>
        <p:spPr>
          <a:xfrm>
            <a:off x="43891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45" name="Shape 35"/>
          <p:cNvSpPr/>
          <p:nvPr/>
        </p:nvSpPr>
        <p:spPr>
          <a:xfrm>
            <a:off x="4846320" y="333756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6" name="Text 36"/>
          <p:cNvSpPr/>
          <p:nvPr/>
        </p:nvSpPr>
        <p:spPr>
          <a:xfrm>
            <a:off x="48463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47" name="Shape 37"/>
          <p:cNvSpPr/>
          <p:nvPr/>
        </p:nvSpPr>
        <p:spPr>
          <a:xfrm>
            <a:off x="5303520" y="3337560"/>
            <a:ext cx="365400" cy="27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8" name="Text 38"/>
          <p:cNvSpPr/>
          <p:nvPr/>
        </p:nvSpPr>
        <p:spPr>
          <a:xfrm>
            <a:off x="53035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onsolas"/>
                <a:ea typeface="Consolas"/>
              </a:rPr>
              <a:t>0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49" name="Shape 39"/>
          <p:cNvSpPr/>
          <p:nvPr/>
        </p:nvSpPr>
        <p:spPr>
          <a:xfrm>
            <a:off x="5760720" y="3337560"/>
            <a:ext cx="365400" cy="273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0" name="Text 40"/>
          <p:cNvSpPr/>
          <p:nvPr/>
        </p:nvSpPr>
        <p:spPr>
          <a:xfrm>
            <a:off x="5760720" y="333756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1" name="Text 41"/>
          <p:cNvSpPr/>
          <p:nvPr/>
        </p:nvSpPr>
        <p:spPr>
          <a:xfrm>
            <a:off x="6309360" y="306324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-&gt; 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모든 비트가 </a:t>
            </a: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0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과 </a:t>
            </a: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1 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모두 저장</a:t>
            </a:r>
            <a:r>
              <a:rPr b="0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/</a:t>
            </a:r>
            <a:r>
              <a:rPr b="0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읽기 가능한지 확인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2" name="Text 42"/>
          <p:cNvSpPr/>
          <p:nvPr/>
        </p:nvSpPr>
        <p:spPr>
          <a:xfrm>
            <a:off x="640080" y="38404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Stuck-at-0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3" name="Text 43"/>
          <p:cNvSpPr/>
          <p:nvPr/>
        </p:nvSpPr>
        <p:spPr>
          <a:xfrm>
            <a:off x="2926080" y="38404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항상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0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으로 고정된 비트 검출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4" name="Text 44"/>
          <p:cNvSpPr/>
          <p:nvPr/>
        </p:nvSpPr>
        <p:spPr>
          <a:xfrm>
            <a:off x="640080" y="41605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Stuck-at-1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5" name="Text 45"/>
          <p:cNvSpPr/>
          <p:nvPr/>
        </p:nvSpPr>
        <p:spPr>
          <a:xfrm>
            <a:off x="2926080" y="416052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항상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1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로 고정된 비트 검출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6" name="Text 46"/>
          <p:cNvSpPr/>
          <p:nvPr/>
        </p:nvSpPr>
        <p:spPr>
          <a:xfrm>
            <a:off x="640080" y="448056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00" spc="-1" strike="noStrike">
                <a:solidFill>
                  <a:srgbClr val="000000"/>
                </a:solidFill>
                <a:latin typeface="Arial"/>
                <a:ea typeface="Arial"/>
              </a:rPr>
              <a:t>인접 비트 간섭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7" name="Text 47"/>
          <p:cNvSpPr/>
          <p:nvPr/>
        </p:nvSpPr>
        <p:spPr>
          <a:xfrm>
            <a:off x="2926080" y="44805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이웃 비트와 합선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(bridging) 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검출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안전 설계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59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0" name="Shape 2"/>
          <p:cNvSpPr/>
          <p:nvPr/>
        </p:nvSpPr>
        <p:spPr>
          <a:xfrm>
            <a:off x="457200" y="91440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640080" y="91440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문제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: 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포그핀 접촉 불안정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62" name="Text 4"/>
          <p:cNvSpPr/>
          <p:nvPr/>
        </p:nvSpPr>
        <p:spPr>
          <a:xfrm>
            <a:off x="640080" y="141732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사람이 손으로 메모리 보드를 올릴 때 일부 핀만 먼저 접촉될 수 있음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불완전 접촉 상태에서 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EEPROM</a:t>
            </a:r>
            <a:r>
              <a:rPr b="0" lang="ko-KR" sz="1100" spc="-1" strike="noStrike">
                <a:solidFill>
                  <a:srgbClr val="333333"/>
                </a:solidFill>
                <a:latin typeface="Arial"/>
                <a:ea typeface="Arial"/>
              </a:rPr>
              <a:t>에 쓰기 하면 데이터 손상 위험</a:t>
            </a:r>
            <a:r>
              <a:rPr b="0" lang="en-US" sz="1100" spc="-1" strike="noStrike">
                <a:solidFill>
                  <a:srgbClr val="333333"/>
                </a:solidFill>
                <a:latin typeface="Arial"/>
                <a:ea typeface="Arial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63" name="Shape 5"/>
          <p:cNvSpPr/>
          <p:nvPr/>
        </p:nvSpPr>
        <p:spPr>
          <a:xfrm>
            <a:off x="457200" y="210312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640080" y="210312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해결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: 2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단계 감지 방식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65" name="Shape 7"/>
          <p:cNvSpPr/>
          <p:nvPr/>
        </p:nvSpPr>
        <p:spPr>
          <a:xfrm>
            <a:off x="640080" y="2606040"/>
            <a:ext cx="3657240" cy="1096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6" name="Text 8"/>
          <p:cNvSpPr/>
          <p:nvPr/>
        </p:nvSpPr>
        <p:spPr>
          <a:xfrm>
            <a:off x="640080" y="260604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1</a:t>
            </a:r>
            <a:r>
              <a:rPr b="1" lang="ko-KR" sz="1100" spc="-1" strike="noStrike">
                <a:solidFill>
                  <a:srgbClr val="000000"/>
                </a:solidFill>
                <a:latin typeface="Arial"/>
                <a:ea typeface="Arial"/>
              </a:rPr>
              <a:t>단계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: detectTask (</a:t>
            </a:r>
            <a:r>
              <a:rPr b="1" lang="ko-KR" sz="1100" spc="-1" strike="noStrike">
                <a:solidFill>
                  <a:srgbClr val="000000"/>
                </a:solidFill>
                <a:latin typeface="Arial"/>
                <a:ea typeface="Arial"/>
              </a:rPr>
              <a:t>백그라운드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67" name="Text 9"/>
          <p:cNvSpPr/>
          <p:nvPr/>
        </p:nvSpPr>
        <p:spPr>
          <a:xfrm>
            <a:off x="731520" y="2971800"/>
            <a:ext cx="3474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68" name="Shape 10"/>
          <p:cNvSpPr/>
          <p:nvPr/>
        </p:nvSpPr>
        <p:spPr>
          <a:xfrm>
            <a:off x="4297680" y="3154680"/>
            <a:ext cx="548640" cy="360"/>
          </a:xfrm>
          <a:prstGeom prst="line">
            <a:avLst/>
          </a:prstGeom>
          <a:ln w="254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9" name="Text 11"/>
          <p:cNvSpPr/>
          <p:nvPr/>
        </p:nvSpPr>
        <p:spPr>
          <a:xfrm>
            <a:off x="4206240" y="283464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800" spc="-1" strike="noStrike">
                <a:solidFill>
                  <a:srgbClr val="666666"/>
                </a:solidFill>
                <a:latin typeface="Arial"/>
                <a:ea typeface="Arial"/>
              </a:rPr>
              <a:t>안정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70" name="Shape 12"/>
          <p:cNvSpPr/>
          <p:nvPr/>
        </p:nvSpPr>
        <p:spPr>
          <a:xfrm>
            <a:off x="4846320" y="2606040"/>
            <a:ext cx="3657240" cy="1096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1" name="Text 13"/>
          <p:cNvSpPr/>
          <p:nvPr/>
        </p:nvSpPr>
        <p:spPr>
          <a:xfrm>
            <a:off x="4846320" y="260604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1" lang="ko-KR" sz="1100" spc="-1" strike="noStrike">
                <a:solidFill>
                  <a:srgbClr val="000000"/>
                </a:solidFill>
                <a:latin typeface="Arial"/>
                <a:ea typeface="Arial"/>
              </a:rPr>
              <a:t>단계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: mainAppTask (</a:t>
            </a:r>
            <a:r>
              <a:rPr b="1" lang="ko-KR" sz="1100" spc="-1" strike="noStrike">
                <a:solidFill>
                  <a:srgbClr val="000000"/>
                </a:solidFill>
                <a:latin typeface="Arial"/>
                <a:ea typeface="Arial"/>
              </a:rPr>
              <a:t>확정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72" name="Text 14"/>
          <p:cNvSpPr/>
          <p:nvPr/>
        </p:nvSpPr>
        <p:spPr>
          <a:xfrm>
            <a:off x="4937760" y="2971800"/>
            <a:ext cx="3474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EE_Detect() + </a:t>
            </a:r>
            <a:r>
              <a:rPr b="1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쓰기</a:t>
            </a:r>
            <a:r>
              <a:rPr b="1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/</a:t>
            </a:r>
            <a:r>
              <a:rPr b="1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읽기 검증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안정 접촉 확인 후에만 쓰기 수행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이후 메모리 검사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/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프로그래밍 진행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73" name="Shape 15"/>
          <p:cNvSpPr/>
          <p:nvPr/>
        </p:nvSpPr>
        <p:spPr>
          <a:xfrm>
            <a:off x="457200" y="402336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4" name="Text 16"/>
          <p:cNvSpPr/>
          <p:nvPr/>
        </p:nvSpPr>
        <p:spPr>
          <a:xfrm>
            <a:off x="640080" y="402336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FreeRTOS 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호환성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75" name="Text 17"/>
          <p:cNvSpPr/>
          <p:nvPr/>
        </p:nvSpPr>
        <p:spPr>
          <a:xfrm>
            <a:off x="640080" y="452628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ee_wait_ready()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에서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HAL_GetTick()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대신 루프 카운터 사용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(FreeRTOS 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환경에서 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HAL_GetTick</a:t>
            </a:r>
            <a:r>
              <a:rPr b="0" lang="ko-KR" sz="1000" spc="-1" strike="noStrike">
                <a:solidFill>
                  <a:srgbClr val="333333"/>
                </a:solidFill>
                <a:latin typeface="Arial"/>
                <a:ea typeface="Arial"/>
              </a:rPr>
              <a:t>이 증가하지 않는 문제 해결</a:t>
            </a: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GPIO </a:t>
            </a: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핀 매핑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77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8" name="Shape 2"/>
          <p:cNvSpPr/>
          <p:nvPr/>
        </p:nvSpPr>
        <p:spPr>
          <a:xfrm>
            <a:off x="457200" y="914400"/>
            <a:ext cx="8229240" cy="3654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548640" y="9144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00" spc="-1" strike="noStrike">
                <a:solidFill>
                  <a:srgbClr val="ffffff"/>
                </a:solidFill>
                <a:latin typeface="Arial"/>
                <a:ea typeface="Arial"/>
              </a:rPr>
              <a:t>기능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0" name="Text 4"/>
          <p:cNvSpPr/>
          <p:nvPr/>
        </p:nvSpPr>
        <p:spPr>
          <a:xfrm>
            <a:off x="4389120" y="91440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GPIO </a:t>
            </a:r>
            <a:r>
              <a:rPr b="1" lang="ko-KR" sz="1100" spc="-1" strike="noStrike">
                <a:solidFill>
                  <a:srgbClr val="ffffff"/>
                </a:solidFill>
                <a:latin typeface="Arial"/>
                <a:ea typeface="Arial"/>
              </a:rPr>
              <a:t>핀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1" name="Shape 5"/>
          <p:cNvSpPr/>
          <p:nvPr/>
        </p:nvSpPr>
        <p:spPr>
          <a:xfrm>
            <a:off x="457200" y="1325880"/>
            <a:ext cx="8229240" cy="34704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2" name="Text 6"/>
          <p:cNvSpPr/>
          <p:nvPr/>
        </p:nvSpPr>
        <p:spPr>
          <a:xfrm>
            <a:off x="548640" y="132588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SPI1 (SK9822 LED)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3" name="Text 7"/>
          <p:cNvSpPr/>
          <p:nvPr/>
        </p:nvSpPr>
        <p:spPr>
          <a:xfrm>
            <a:off x="4389120" y="132588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PA5 (SCK), PA7 (MOSI)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4" name="Shape 8"/>
          <p:cNvSpPr/>
          <p:nvPr/>
        </p:nvSpPr>
        <p:spPr>
          <a:xfrm>
            <a:off x="457200" y="1691640"/>
            <a:ext cx="8229240" cy="347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5" name="Text 9"/>
          <p:cNvSpPr/>
          <p:nvPr/>
        </p:nvSpPr>
        <p:spPr>
          <a:xfrm>
            <a:off x="548640" y="169164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I2S3 (</a:t>
            </a: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음성 앰프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6" name="Text 10"/>
          <p:cNvSpPr/>
          <p:nvPr/>
        </p:nvSpPr>
        <p:spPr>
          <a:xfrm>
            <a:off x="4389120" y="169164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PA4 (WS), PB2 (SDO), PC10 (CK)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7" name="Shape 11"/>
          <p:cNvSpPr/>
          <p:nvPr/>
        </p:nvSpPr>
        <p:spPr>
          <a:xfrm>
            <a:off x="457200" y="2057400"/>
            <a:ext cx="8229240" cy="34704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8" name="Text 12"/>
          <p:cNvSpPr/>
          <p:nvPr/>
        </p:nvSpPr>
        <p:spPr>
          <a:xfrm>
            <a:off x="548640" y="205740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93C56 CLK / DIN / DOUT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89" name="Text 13"/>
          <p:cNvSpPr/>
          <p:nvPr/>
        </p:nvSpPr>
        <p:spPr>
          <a:xfrm>
            <a:off x="4389120" y="205740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PA8 / PC0 / PC1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0" name="Shape 14"/>
          <p:cNvSpPr/>
          <p:nvPr/>
        </p:nvSpPr>
        <p:spPr>
          <a:xfrm>
            <a:off x="457200" y="2423160"/>
            <a:ext cx="8229240" cy="347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1" name="Text 15"/>
          <p:cNvSpPr/>
          <p:nvPr/>
        </p:nvSpPr>
        <p:spPr>
          <a:xfrm>
            <a:off x="548640" y="242316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CD4067 MUX A,B,C,D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2" name="Text 16"/>
          <p:cNvSpPr/>
          <p:nvPr/>
        </p:nvSpPr>
        <p:spPr>
          <a:xfrm>
            <a:off x="4389120" y="242316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PC6, PC7, PC8, PC9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3" name="Shape 17"/>
          <p:cNvSpPr/>
          <p:nvPr/>
        </p:nvSpPr>
        <p:spPr>
          <a:xfrm>
            <a:off x="457200" y="2788920"/>
            <a:ext cx="8229240" cy="34704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4" name="Text 18"/>
          <p:cNvSpPr/>
          <p:nvPr/>
        </p:nvSpPr>
        <p:spPr>
          <a:xfrm>
            <a:off x="548640" y="278892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CD4067 INHIBIT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5" name="Text 19"/>
          <p:cNvSpPr/>
          <p:nvPr/>
        </p:nvSpPr>
        <p:spPr>
          <a:xfrm>
            <a:off x="4389120" y="278892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PB12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6" name="Shape 20"/>
          <p:cNvSpPr/>
          <p:nvPr/>
        </p:nvSpPr>
        <p:spPr>
          <a:xfrm>
            <a:off x="457200" y="3154680"/>
            <a:ext cx="8229240" cy="347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7" name="Text 21"/>
          <p:cNvSpPr/>
          <p:nvPr/>
        </p:nvSpPr>
        <p:spPr>
          <a:xfrm>
            <a:off x="548640" y="315468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CS0 ~ CS3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8" name="Text 22"/>
          <p:cNvSpPr/>
          <p:nvPr/>
        </p:nvSpPr>
        <p:spPr>
          <a:xfrm>
            <a:off x="4389120" y="315468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PA9, PA10, PA11, PA12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299" name="Shape 23"/>
          <p:cNvSpPr/>
          <p:nvPr/>
        </p:nvSpPr>
        <p:spPr>
          <a:xfrm>
            <a:off x="457200" y="3520440"/>
            <a:ext cx="8229240" cy="34704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0" name="Text 24"/>
          <p:cNvSpPr/>
          <p:nvPr/>
        </p:nvSpPr>
        <p:spPr>
          <a:xfrm>
            <a:off x="548640" y="352044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CS4 ~ CS8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1" name="Text 25"/>
          <p:cNvSpPr/>
          <p:nvPr/>
        </p:nvSpPr>
        <p:spPr>
          <a:xfrm>
            <a:off x="4389120" y="352044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PB4, PB5, PB6, PB7, PB9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2" name="Shape 26"/>
          <p:cNvSpPr/>
          <p:nvPr/>
        </p:nvSpPr>
        <p:spPr>
          <a:xfrm>
            <a:off x="457200" y="3886200"/>
            <a:ext cx="8229240" cy="347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3" name="Text 27"/>
          <p:cNvSpPr/>
          <p:nvPr/>
        </p:nvSpPr>
        <p:spPr>
          <a:xfrm>
            <a:off x="548640" y="388620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CS9 ~ CS11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4" name="Text 28"/>
          <p:cNvSpPr/>
          <p:nvPr/>
        </p:nvSpPr>
        <p:spPr>
          <a:xfrm>
            <a:off x="4389120" y="388620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PC11, PC12, PD2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5" name="Shape 29"/>
          <p:cNvSpPr/>
          <p:nvPr/>
        </p:nvSpPr>
        <p:spPr>
          <a:xfrm>
            <a:off x="457200" y="4251960"/>
            <a:ext cx="8229240" cy="34704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6" name="Text 30"/>
          <p:cNvSpPr/>
          <p:nvPr/>
        </p:nvSpPr>
        <p:spPr>
          <a:xfrm>
            <a:off x="548640" y="425196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MAX98357A SD_MODE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7" name="Text 31"/>
          <p:cNvSpPr/>
          <p:nvPr/>
        </p:nvSpPr>
        <p:spPr>
          <a:xfrm>
            <a:off x="4389120" y="425196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PB8 (R47 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풀업</a:t>
            </a: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, GPIO </a:t>
            </a:r>
            <a:r>
              <a:rPr b="0" lang="ko-KR" sz="1000" spc="-1" strike="noStrike">
                <a:solidFill>
                  <a:srgbClr val="333333"/>
                </a:solidFill>
                <a:latin typeface="Consolas"/>
                <a:ea typeface="Consolas"/>
              </a:rPr>
              <a:t>미사용</a:t>
            </a: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08" name="Text 30"/>
          <p:cNvSpPr/>
          <p:nvPr/>
        </p:nvSpPr>
        <p:spPr>
          <a:xfrm>
            <a:off x="548640" y="463932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9" name="Text 31"/>
          <p:cNvSpPr/>
          <p:nvPr/>
        </p:nvSpPr>
        <p:spPr>
          <a:xfrm>
            <a:off x="4389120" y="4639320"/>
            <a:ext cx="4205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0"/>
          <p:cNvSpPr/>
          <p:nvPr/>
        </p:nvSpPr>
        <p:spPr>
          <a:xfrm>
            <a:off x="457200" y="1828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LED </a:t>
            </a:r>
            <a:r>
              <a:rPr b="1" lang="ko-KR" sz="2800" spc="-1" strike="noStrike">
                <a:solidFill>
                  <a:srgbClr val="000000"/>
                </a:solidFill>
                <a:latin typeface="Arial Black"/>
                <a:ea typeface="Arial Black"/>
              </a:rPr>
              <a:t>등휘도 보정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11" name="Shape 1"/>
          <p:cNvSpPr/>
          <p:nvPr/>
        </p:nvSpPr>
        <p:spPr>
          <a:xfrm>
            <a:off x="457200" y="731520"/>
            <a:ext cx="82296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457200" y="91440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300" spc="-1" strike="noStrike">
                <a:solidFill>
                  <a:srgbClr val="000000"/>
                </a:solidFill>
                <a:latin typeface="Arial"/>
                <a:ea typeface="Arial"/>
              </a:rPr>
              <a:t>인간 눈 감응도 </a:t>
            </a:r>
            <a:r>
              <a:rPr b="1" lang="en-US" sz="1300" spc="-1" strike="noStrike">
                <a:solidFill>
                  <a:srgbClr val="000000"/>
                </a:solidFill>
                <a:latin typeface="Arial"/>
                <a:ea typeface="Arial"/>
              </a:rPr>
              <a:t>(ITU-R BT.709):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457200" y="12344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33333"/>
                </a:solidFill>
                <a:latin typeface="Consolas"/>
                <a:ea typeface="Consolas"/>
              </a:rPr>
              <a:t>Y = 0.2126 x R  +  0.7152 x G  +  0.0722 x B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14" name="Text 4"/>
          <p:cNvSpPr/>
          <p:nvPr/>
        </p:nvSpPr>
        <p:spPr>
          <a:xfrm>
            <a:off x="457200" y="160020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같은 </a:t>
            </a:r>
            <a:r>
              <a:rPr b="0" i="1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RGB </a:t>
            </a:r>
            <a:r>
              <a:rPr b="0" i="1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값이라도 녹색이 적색보다 </a:t>
            </a:r>
            <a:r>
              <a:rPr b="0" i="1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3.4</a:t>
            </a:r>
            <a:r>
              <a:rPr b="0" i="1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배</a:t>
            </a:r>
            <a:r>
              <a:rPr b="0" i="1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, </a:t>
            </a:r>
            <a:r>
              <a:rPr b="0" i="1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청색보다 </a:t>
            </a:r>
            <a:r>
              <a:rPr b="0" i="1" lang="en-US" sz="1000" spc="-1" strike="noStrike">
                <a:solidFill>
                  <a:srgbClr val="666666"/>
                </a:solidFill>
                <a:latin typeface="Arial"/>
                <a:ea typeface="Arial"/>
              </a:rPr>
              <a:t>10</a:t>
            </a:r>
            <a:r>
              <a:rPr b="0" i="1" lang="ko-KR" sz="1000" spc="-1" strike="noStrike">
                <a:solidFill>
                  <a:srgbClr val="666666"/>
                </a:solidFill>
                <a:latin typeface="Arial"/>
                <a:ea typeface="Arial"/>
              </a:rPr>
              <a:t>배 밝게 보임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15" name="Shape 5"/>
          <p:cNvSpPr/>
          <p:nvPr/>
        </p:nvSpPr>
        <p:spPr>
          <a:xfrm>
            <a:off x="457200" y="2103120"/>
            <a:ext cx="8229240" cy="4111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640080" y="2103120"/>
            <a:ext cx="7863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보정된 색상값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(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체감 밝기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Y ~ 108 </a:t>
            </a:r>
            <a:r>
              <a:rPr b="1" lang="ko-KR" sz="1400" spc="-1" strike="noStrike">
                <a:solidFill>
                  <a:srgbClr val="ffffff"/>
                </a:solidFill>
                <a:latin typeface="Arial"/>
                <a:ea typeface="Arial"/>
              </a:rPr>
              <a:t>통일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17" name="Shape 7"/>
          <p:cNvSpPr/>
          <p:nvPr/>
        </p:nvSpPr>
        <p:spPr>
          <a:xfrm>
            <a:off x="457200" y="2606040"/>
            <a:ext cx="8229240" cy="3654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8" name="Text 8"/>
          <p:cNvSpPr/>
          <p:nvPr/>
        </p:nvSpPr>
        <p:spPr>
          <a:xfrm>
            <a:off x="548640" y="260604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00" spc="-1" strike="noStrike">
                <a:solidFill>
                  <a:srgbClr val="ffffff"/>
                </a:solidFill>
                <a:latin typeface="Arial"/>
                <a:ea typeface="Arial"/>
              </a:rPr>
              <a:t>색상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19" name="Text 9"/>
          <p:cNvSpPr/>
          <p:nvPr/>
        </p:nvSpPr>
        <p:spPr>
          <a:xfrm>
            <a:off x="2194560" y="260604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RGB </a:t>
            </a:r>
            <a:r>
              <a:rPr b="1" lang="ko-KR" sz="1100" spc="-1" strike="noStrike">
                <a:solidFill>
                  <a:srgbClr val="ffffff"/>
                </a:solidFill>
                <a:latin typeface="Arial"/>
                <a:ea typeface="Arial"/>
              </a:rPr>
              <a:t>값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0" name="Text 10"/>
          <p:cNvSpPr/>
          <p:nvPr/>
        </p:nvSpPr>
        <p:spPr>
          <a:xfrm>
            <a:off x="4480560" y="260604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00" spc="-1" strike="noStrike">
                <a:solidFill>
                  <a:srgbClr val="ffffff"/>
                </a:solidFill>
                <a:latin typeface="Arial"/>
                <a:ea typeface="Arial"/>
              </a:rPr>
              <a:t>밝기 레지스터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1" name="Text 11"/>
          <p:cNvSpPr/>
          <p:nvPr/>
        </p:nvSpPr>
        <p:spPr>
          <a:xfrm>
            <a:off x="6309360" y="260604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00" spc="-1" strike="noStrike">
                <a:solidFill>
                  <a:srgbClr val="ffffff"/>
                </a:solidFill>
                <a:latin typeface="Arial"/>
                <a:ea typeface="Arial"/>
              </a:rPr>
              <a:t>체감 밝기 </a:t>
            </a: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Y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2" name="Shape 12"/>
          <p:cNvSpPr/>
          <p:nvPr/>
        </p:nvSpPr>
        <p:spPr>
          <a:xfrm>
            <a:off x="457200" y="3017520"/>
            <a:ext cx="8229240" cy="30132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3" name="Text 13"/>
          <p:cNvSpPr/>
          <p:nvPr/>
        </p:nvSpPr>
        <p:spPr>
          <a:xfrm>
            <a:off x="548640" y="3017520"/>
            <a:ext cx="16455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적색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4" name="Text 14"/>
          <p:cNvSpPr/>
          <p:nvPr/>
        </p:nvSpPr>
        <p:spPr>
          <a:xfrm>
            <a:off x="2194560" y="301752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255, 0, 0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5" name="Text 15"/>
          <p:cNvSpPr/>
          <p:nvPr/>
        </p:nvSpPr>
        <p:spPr>
          <a:xfrm>
            <a:off x="4480560" y="3017520"/>
            <a:ext cx="1828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br=4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6" name="Text 16"/>
          <p:cNvSpPr/>
          <p:nvPr/>
        </p:nvSpPr>
        <p:spPr>
          <a:xfrm>
            <a:off x="6309360" y="301752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108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7" name="Shape 17"/>
          <p:cNvSpPr/>
          <p:nvPr/>
        </p:nvSpPr>
        <p:spPr>
          <a:xfrm>
            <a:off x="457200" y="3337560"/>
            <a:ext cx="8229240" cy="301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8" name="Text 18"/>
          <p:cNvSpPr/>
          <p:nvPr/>
        </p:nvSpPr>
        <p:spPr>
          <a:xfrm>
            <a:off x="548640" y="3337560"/>
            <a:ext cx="16455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청색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29" name="Text 19"/>
          <p:cNvSpPr/>
          <p:nvPr/>
        </p:nvSpPr>
        <p:spPr>
          <a:xfrm>
            <a:off x="2194560" y="333756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0, 0, 255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0" name="Text 20"/>
          <p:cNvSpPr/>
          <p:nvPr/>
        </p:nvSpPr>
        <p:spPr>
          <a:xfrm>
            <a:off x="4480560" y="3337560"/>
            <a:ext cx="1828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br=12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1" name="Text 21"/>
          <p:cNvSpPr/>
          <p:nvPr/>
        </p:nvSpPr>
        <p:spPr>
          <a:xfrm>
            <a:off x="6309360" y="333756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110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2" name="Shape 22"/>
          <p:cNvSpPr/>
          <p:nvPr/>
        </p:nvSpPr>
        <p:spPr>
          <a:xfrm>
            <a:off x="457200" y="3657600"/>
            <a:ext cx="8229240" cy="30132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3" name="Text 23"/>
          <p:cNvSpPr/>
          <p:nvPr/>
        </p:nvSpPr>
        <p:spPr>
          <a:xfrm>
            <a:off x="548640" y="3657600"/>
            <a:ext cx="16455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녹색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4" name="Text 24"/>
          <p:cNvSpPr/>
          <p:nvPr/>
        </p:nvSpPr>
        <p:spPr>
          <a:xfrm>
            <a:off x="2194560" y="365760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0, 76, 0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5" name="Text 25"/>
          <p:cNvSpPr/>
          <p:nvPr/>
        </p:nvSpPr>
        <p:spPr>
          <a:xfrm>
            <a:off x="4480560" y="3657600"/>
            <a:ext cx="1828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br=4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6" name="Text 26"/>
          <p:cNvSpPr/>
          <p:nvPr/>
        </p:nvSpPr>
        <p:spPr>
          <a:xfrm>
            <a:off x="6309360" y="365760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109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7" name="Shape 27"/>
          <p:cNvSpPr/>
          <p:nvPr/>
        </p:nvSpPr>
        <p:spPr>
          <a:xfrm>
            <a:off x="457200" y="3977640"/>
            <a:ext cx="8229240" cy="301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8" name="Text 28"/>
          <p:cNvSpPr/>
          <p:nvPr/>
        </p:nvSpPr>
        <p:spPr>
          <a:xfrm>
            <a:off x="548640" y="3977640"/>
            <a:ext cx="16455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주황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39" name="Text 29"/>
          <p:cNvSpPr/>
          <p:nvPr/>
        </p:nvSpPr>
        <p:spPr>
          <a:xfrm>
            <a:off x="2194560" y="397764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200, 20, 0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0" name="Text 30"/>
          <p:cNvSpPr/>
          <p:nvPr/>
        </p:nvSpPr>
        <p:spPr>
          <a:xfrm>
            <a:off x="4480560" y="3977640"/>
            <a:ext cx="1828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br=4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1" name="Text 31"/>
          <p:cNvSpPr/>
          <p:nvPr/>
        </p:nvSpPr>
        <p:spPr>
          <a:xfrm>
            <a:off x="6309360" y="397764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114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2" name="Shape 32"/>
          <p:cNvSpPr/>
          <p:nvPr/>
        </p:nvSpPr>
        <p:spPr>
          <a:xfrm>
            <a:off x="457200" y="4297680"/>
            <a:ext cx="8229240" cy="30132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3" name="Text 33"/>
          <p:cNvSpPr/>
          <p:nvPr/>
        </p:nvSpPr>
        <p:spPr>
          <a:xfrm>
            <a:off x="548640" y="4297680"/>
            <a:ext cx="16455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청록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4" name="Text 34"/>
          <p:cNvSpPr/>
          <p:nvPr/>
        </p:nvSpPr>
        <p:spPr>
          <a:xfrm>
            <a:off x="2194560" y="429768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0, 50, 255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4480560" y="4297680"/>
            <a:ext cx="1828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br=4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6" name="Text 36"/>
          <p:cNvSpPr/>
          <p:nvPr/>
        </p:nvSpPr>
        <p:spPr>
          <a:xfrm>
            <a:off x="6309360" y="429768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108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7" name="Shape 37"/>
          <p:cNvSpPr/>
          <p:nvPr/>
        </p:nvSpPr>
        <p:spPr>
          <a:xfrm>
            <a:off x="457200" y="4617720"/>
            <a:ext cx="8229240" cy="301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8" name="Text 38"/>
          <p:cNvSpPr/>
          <p:nvPr/>
        </p:nvSpPr>
        <p:spPr>
          <a:xfrm>
            <a:off x="548640" y="4617720"/>
            <a:ext cx="16455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00" spc="-1" strike="noStrike">
                <a:solidFill>
                  <a:srgbClr val="000000"/>
                </a:solidFill>
                <a:latin typeface="Arial"/>
                <a:ea typeface="Arial"/>
              </a:rPr>
              <a:t>자홍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49" name="Text 39"/>
          <p:cNvSpPr/>
          <p:nvPr/>
        </p:nvSpPr>
        <p:spPr>
          <a:xfrm>
            <a:off x="2194560" y="461772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180, 0, 200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50" name="Text 40"/>
          <p:cNvSpPr/>
          <p:nvPr/>
        </p:nvSpPr>
        <p:spPr>
          <a:xfrm>
            <a:off x="4480560" y="4617720"/>
            <a:ext cx="1828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Consolas"/>
                <a:ea typeface="Consolas"/>
              </a:rPr>
              <a:t>br=4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51" name="Text 41"/>
          <p:cNvSpPr/>
          <p:nvPr/>
        </p:nvSpPr>
        <p:spPr>
          <a:xfrm>
            <a:off x="6309360" y="4617720"/>
            <a:ext cx="22856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333333"/>
                </a:solidFill>
                <a:latin typeface="Arial"/>
                <a:ea typeface="Arial"/>
              </a:rPr>
              <a:t>105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Box 1"/>
          <p:cNvSpPr/>
          <p:nvPr/>
        </p:nvSpPr>
        <p:spPr>
          <a:xfrm>
            <a:off x="457200" y="201240"/>
            <a:ext cx="11246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800" spc="-1" strike="noStrike">
                <a:solidFill>
                  <a:srgbClr val="000000"/>
                </a:solidFill>
                <a:latin typeface="Calibri"/>
              </a:rPr>
              <a:t>음성 메시지 안내 </a:t>
            </a:r>
            <a:r>
              <a:rPr b="1" lang="en-US" sz="2800" spc="-1" strike="noStrike">
                <a:solidFill>
                  <a:srgbClr val="000000"/>
                </a:solidFill>
                <a:latin typeface="Calibri"/>
              </a:rPr>
              <a:t>(7</a:t>
            </a:r>
            <a:r>
              <a:rPr b="1" lang="ko-KR" sz="2800" spc="-1" strike="noStrike">
                <a:solidFill>
                  <a:srgbClr val="000000"/>
                </a:solidFill>
                <a:latin typeface="Calibri"/>
              </a:rPr>
              <a:t>종</a:t>
            </a:r>
            <a:r>
              <a:rPr b="1" lang="en-US" sz="28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53" name="Rectangle 2"/>
          <p:cNvSpPr/>
          <p:nvPr/>
        </p:nvSpPr>
        <p:spPr>
          <a:xfrm>
            <a:off x="457200" y="896040"/>
            <a:ext cx="11246760" cy="18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TextBox 3"/>
          <p:cNvSpPr/>
          <p:nvPr/>
        </p:nvSpPr>
        <p:spPr>
          <a:xfrm>
            <a:off x="457200" y="960120"/>
            <a:ext cx="11246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404040"/>
                </a:solidFill>
                <a:latin typeface="Calibri"/>
              </a:rPr>
              <a:t>gen_voice.py — Edge Neural TTS (InJoon KO)  ·  22.05 kHz · G.711 μ-law 8-bit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graphicFrame>
        <p:nvGraphicFramePr>
          <p:cNvPr id="355" name="Table 4"/>
          <p:cNvGraphicFramePr/>
          <p:nvPr/>
        </p:nvGraphicFramePr>
        <p:xfrm>
          <a:off x="419400" y="1307880"/>
          <a:ext cx="7860600" cy="3146040"/>
        </p:xfrm>
        <a:graphic>
          <a:graphicData uri="http://schemas.openxmlformats.org/drawingml/2006/table">
            <a:tbl>
              <a:tblPr/>
              <a:tblGrid>
                <a:gridCol w="415440"/>
                <a:gridCol w="2628360"/>
                <a:gridCol w="4816800"/>
              </a:tblGrid>
              <a:tr h="39204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3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ko-KR" sz="13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음성 내용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ko-KR" sz="13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사용 시점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392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디아지용 팁 보드를 올려주세요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상태 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A: LED </a:t>
                      </a: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쇼 중 최초 안내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92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프로그램이 완료되었습니다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프로그래밍 완료 후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적색 표시는 불량입니다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불량 칩 존재 시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92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보드를 분리하여 주십시요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상태 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E: </a:t>
                      </a: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보드 제거 요청 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(30</a:t>
                      </a: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초 반복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보드가 분리되었습니다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상태 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E: </a:t>
                      </a: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보드 제거 감지 직후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92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5 *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새 보드를 올려 주십시요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보드 분리 후 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+ 10</a:t>
                      </a: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초마다 반복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6 *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프로그램을 시작합니다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r>
                        <a:rPr b="0" lang="ko-KR" sz="12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초 안정화 대기 후 프로그래밍 직전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Noto Sans KR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56" name="TextBox 5"/>
          <p:cNvSpPr/>
          <p:nvPr/>
        </p:nvSpPr>
        <p:spPr>
          <a:xfrm>
            <a:off x="180000" y="4602600"/>
            <a:ext cx="11246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404040"/>
                </a:solidFill>
                <a:latin typeface="Calibri"/>
              </a:rPr>
              <a:t>* = Phase 2 </a:t>
            </a:r>
            <a:r>
              <a:rPr b="0" i="1" lang="ko-KR" sz="1100" spc="-1" strike="noStrike">
                <a:solidFill>
                  <a:srgbClr val="404040"/>
                </a:solidFill>
                <a:latin typeface="Calibri"/>
              </a:rPr>
              <a:t>신규 추가  </a:t>
            </a:r>
            <a:r>
              <a:rPr b="0" i="1" lang="en-US" sz="1100" spc="-1" strike="noStrike">
                <a:solidFill>
                  <a:srgbClr val="404040"/>
                </a:solidFill>
                <a:latin typeface="Calibri"/>
              </a:rPr>
              <a:t>/  Edge Neural TTS + 22.05 kHz μ-law </a:t>
            </a:r>
            <a:r>
              <a:rPr b="0" i="1" lang="ko-KR" sz="1100" spc="-1" strike="noStrike">
                <a:solidFill>
                  <a:srgbClr val="404040"/>
                </a:solidFill>
                <a:latin typeface="Calibri"/>
              </a:rPr>
              <a:t>업그레이드 </a:t>
            </a:r>
            <a:r>
              <a:rPr b="0" i="1" lang="en-US" sz="1100" spc="-1" strike="noStrike">
                <a:solidFill>
                  <a:srgbClr val="404040"/>
                </a:solidFill>
                <a:latin typeface="Calibri"/>
              </a:rPr>
              <a:t>(</a:t>
            </a:r>
            <a:r>
              <a:rPr b="0" i="1" lang="ko-KR" sz="1100" spc="-1" strike="noStrike">
                <a:solidFill>
                  <a:srgbClr val="404040"/>
                </a:solidFill>
                <a:latin typeface="Calibri"/>
              </a:rPr>
              <a:t>자연스러운 억양</a:t>
            </a:r>
            <a:r>
              <a:rPr b="0" i="1" lang="en-US" sz="1100" spc="-1" strike="noStrike">
                <a:solidFill>
                  <a:srgbClr val="404040"/>
                </a:solidFill>
                <a:latin typeface="Calibri"/>
              </a:rPr>
              <a:t>·</a:t>
            </a:r>
            <a:r>
              <a:rPr b="0" i="1" lang="ko-KR" sz="1100" spc="-1" strike="noStrike">
                <a:solidFill>
                  <a:srgbClr val="404040"/>
                </a:solidFill>
                <a:latin typeface="Calibri"/>
              </a:rPr>
              <a:t>음질 대폭 향상</a:t>
            </a:r>
            <a:r>
              <a:rPr b="0" i="1" lang="en-US" sz="11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extBox 1"/>
          <p:cNvSpPr/>
          <p:nvPr/>
        </p:nvSpPr>
        <p:spPr>
          <a:xfrm>
            <a:off x="274320" y="137160"/>
            <a:ext cx="8595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400" spc="-1" strike="noStrike">
                <a:solidFill>
                  <a:srgbClr val="1f497d"/>
                </a:solidFill>
                <a:latin typeface="Calibri"/>
              </a:rPr>
              <a:t>버그 수정 및 신규 기능 </a:t>
            </a:r>
            <a:r>
              <a:rPr b="1" lang="en-US" sz="2400" spc="-1" strike="noStrike">
                <a:solidFill>
                  <a:srgbClr val="1f497d"/>
                </a:solidFill>
                <a:latin typeface="Calibri"/>
              </a:rPr>
              <a:t>(2026.04)</a:t>
            </a:r>
            <a:endParaRPr b="0" lang="en-US" sz="2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58" name="TextBox 2"/>
          <p:cNvSpPr/>
          <p:nvPr/>
        </p:nvSpPr>
        <p:spPr>
          <a:xfrm>
            <a:off x="274320" y="685800"/>
            <a:ext cx="859500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1f497d"/>
                </a:solidFill>
                <a:latin typeface="Calibri"/>
              </a:rPr>
              <a:t>[ </a:t>
            </a:r>
            <a:r>
              <a:rPr b="1" lang="ko-KR" sz="1300" spc="-1" strike="noStrike">
                <a:solidFill>
                  <a:srgbClr val="1f497d"/>
                </a:solidFill>
                <a:latin typeface="Calibri"/>
              </a:rPr>
              <a:t>버그 수정 </a:t>
            </a:r>
            <a:r>
              <a:rPr b="1" lang="en-US" sz="1300" spc="-1" strike="noStrike">
                <a:solidFill>
                  <a:srgbClr val="1f497d"/>
                </a:solidFill>
                <a:latin typeface="Calibri"/>
              </a:rPr>
              <a:t>1 ]  LED </a:t>
            </a:r>
            <a:r>
              <a:rPr b="1" lang="ko-KR" sz="1300" spc="-1" strike="noStrike">
                <a:solidFill>
                  <a:srgbClr val="1f497d"/>
                </a:solidFill>
                <a:latin typeface="Calibri"/>
              </a:rPr>
              <a:t>항상 소등 문제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원인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: led_set()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에서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SK9822 brightness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가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0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으로 하드코딩 →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0xE0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전송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=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완전 꺼짐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수정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: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색상에 따라 자동 밝기 부여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·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소등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(0,0,0) → br = 0    ·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청색 전용 →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br = 12 (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시감 보정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)    ·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기타 색상 →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br = 4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59" name="TextBox 3"/>
          <p:cNvSpPr/>
          <p:nvPr/>
        </p:nvSpPr>
        <p:spPr>
          <a:xfrm>
            <a:off x="274320" y="1783080"/>
            <a:ext cx="859500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1f497d"/>
                </a:solidFill>
                <a:latin typeface="Calibri"/>
              </a:rPr>
              <a:t>[ </a:t>
            </a:r>
            <a:r>
              <a:rPr b="1" lang="ko-KR" sz="1300" spc="-1" strike="noStrike">
                <a:solidFill>
                  <a:srgbClr val="1f497d"/>
                </a:solidFill>
                <a:latin typeface="Calibri"/>
              </a:rPr>
              <a:t>버그 수정 </a:t>
            </a:r>
            <a:r>
              <a:rPr b="1" lang="en-US" sz="1300" spc="-1" strike="noStrike">
                <a:solidFill>
                  <a:srgbClr val="1f497d"/>
                </a:solidFill>
                <a:latin typeface="Calibri"/>
              </a:rPr>
              <a:t>2 ]  0x00 </a:t>
            </a:r>
            <a:r>
              <a:rPr b="1" lang="ko-KR" sz="1300" spc="-1" strike="noStrike">
                <a:solidFill>
                  <a:srgbClr val="1f497d"/>
                </a:solidFill>
                <a:latin typeface="Calibri"/>
              </a:rPr>
              <a:t>초기화 칩 감지 실패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원인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: detectTask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에서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EE_DetectReadOnly()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사용 → 데이터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0x00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이면 칩 없음으로 판정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수정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: detectTask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에서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EE_Detect()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사용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(addr 255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에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0xA5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기록 후 읽어 비교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· 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이미 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0x00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으로 초기화된 칩도 쓰기</a:t>
            </a: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+</a:t>
            </a:r>
            <a:r>
              <a:rPr b="0" lang="ko-KR" sz="1300" spc="-1" strike="noStrike">
                <a:solidFill>
                  <a:schemeClr val="dk1"/>
                </a:solidFill>
                <a:latin typeface="Calibri"/>
              </a:rPr>
              <a:t>읽기로 확실히 감지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60" name="TextBox 4"/>
          <p:cNvSpPr/>
          <p:nvPr/>
        </p:nvSpPr>
        <p:spPr>
          <a:xfrm>
            <a:off x="274320" y="2880360"/>
            <a:ext cx="85950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1f497d"/>
                </a:solidFill>
                <a:latin typeface="Calibri"/>
              </a:rPr>
              <a:t>[ </a:t>
            </a:r>
            <a:r>
              <a:rPr b="1" lang="ko-KR" sz="1200" spc="-1" strike="noStrike">
                <a:solidFill>
                  <a:srgbClr val="1f497d"/>
                </a:solidFill>
                <a:latin typeface="Calibri"/>
              </a:rPr>
              <a:t>신규 기능 </a:t>
            </a:r>
            <a:r>
              <a:rPr b="1" lang="en-US" sz="1200" spc="-1" strike="noStrike">
                <a:solidFill>
                  <a:srgbClr val="1f497d"/>
                </a:solidFill>
                <a:latin typeface="Calibri"/>
              </a:rPr>
              <a:t>]  UART1 </a:t>
            </a:r>
            <a:r>
              <a:rPr b="1" lang="ko-KR" sz="1200" spc="-1" strike="noStrike">
                <a:solidFill>
                  <a:srgbClr val="1f497d"/>
                </a:solidFill>
                <a:latin typeface="Calibri"/>
              </a:rPr>
              <a:t>디버그 로그 출력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설정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: PB14 (TX) / PB15 (RX)  ·  115200 bps, 8N1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구현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: uart_log()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헬퍼 함수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(vsnprintf + HAL_UART_Transmit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블로킹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출력 항목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: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[INIT] 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시스템 시작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슬롯 수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[WAIT] 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보드 장착 대기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[BOARD]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보드 감지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칩 스캔 결과 표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(CS00~CS11 O/X)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[CHIP]   93C56 / 93C46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식별 결과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[STATE B/C/D]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각 단계 진입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[TEST] 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칩별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0xAA/0x55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테스트 결과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(PASS/FAIL/SKIP)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[PROG] 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칩별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0x00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프로그래밍 결과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(OK/FAIL/SKIP)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[DONE] 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최종 요약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(PASS=N  FAIL=N  SKIP=N,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불량 목록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[BOARD]  </a:t>
            </a:r>
            <a:r>
              <a:rPr b="0" lang="ko-KR" sz="1200" spc="-1" strike="noStrike">
                <a:solidFill>
                  <a:schemeClr val="dk1"/>
                </a:solidFill>
                <a:latin typeface="Calibri"/>
              </a:rPr>
              <a:t>보드 분리 확인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0"/>
          <p:cNvSpPr/>
          <p:nvPr/>
        </p:nvSpPr>
        <p:spPr>
          <a:xfrm>
            <a:off x="457200" y="914400"/>
            <a:ext cx="8229600" cy="360"/>
          </a:xfrm>
          <a:prstGeom prst="line">
            <a:avLst/>
          </a:prstGeom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2" name="Text 1"/>
          <p:cNvSpPr/>
          <p:nvPr/>
        </p:nvSpPr>
        <p:spPr>
          <a:xfrm>
            <a:off x="457200" y="11887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3600" spc="-1" strike="noStrike">
                <a:solidFill>
                  <a:srgbClr val="000000"/>
                </a:solidFill>
                <a:latin typeface="Arial Black"/>
                <a:ea typeface="Arial Black"/>
              </a:rPr>
              <a:t>요약</a:t>
            </a:r>
            <a:endParaRPr b="0" lang="en-US" sz="36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63" name="Shape 2"/>
          <p:cNvSpPr/>
          <p:nvPr/>
        </p:nvSpPr>
        <p:spPr>
          <a:xfrm>
            <a:off x="457200" y="1920240"/>
            <a:ext cx="8229600" cy="360"/>
          </a:xfrm>
          <a:prstGeom prst="line">
            <a:avLst/>
          </a:prstGeom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4" name="Text 3"/>
          <p:cNvSpPr/>
          <p:nvPr/>
        </p:nvSpPr>
        <p:spPr>
          <a:xfrm>
            <a:off x="1371600" y="2377440"/>
            <a:ext cx="64004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1400" spc="-1" strike="noStrike">
                <a:solidFill>
                  <a:srgbClr val="333333"/>
                </a:solidFill>
                <a:latin typeface="Arial"/>
                <a:ea typeface="Arial"/>
              </a:rPr>
              <a:t>한국어 </a:t>
            </a:r>
            <a:r>
              <a:rPr b="0" lang="en-US" sz="1400" spc="-1" strike="noStrike">
                <a:solidFill>
                  <a:srgbClr val="333333"/>
                </a:solidFill>
                <a:latin typeface="Arial"/>
                <a:ea typeface="Arial"/>
              </a:rPr>
              <a:t>TTS </a:t>
            </a:r>
            <a:r>
              <a:rPr b="0" lang="ko-KR" sz="1400" spc="-1" strike="noStrike">
                <a:solidFill>
                  <a:srgbClr val="333333"/>
                </a:solidFill>
                <a:latin typeface="Arial"/>
                <a:ea typeface="Arial"/>
              </a:rPr>
              <a:t>음성 안내 </a:t>
            </a:r>
            <a:r>
              <a:rPr b="0" lang="en-US" sz="1400" spc="-1" strike="noStrike">
                <a:solidFill>
                  <a:srgbClr val="333333"/>
                </a:solidFill>
                <a:latin typeface="Arial"/>
                <a:ea typeface="Arial"/>
              </a:rPr>
              <a:t>8</a:t>
            </a:r>
            <a:r>
              <a:rPr b="0" lang="ko-KR" sz="1400" spc="-1" strike="noStrike">
                <a:solidFill>
                  <a:srgbClr val="333333"/>
                </a:solidFill>
                <a:latin typeface="Arial"/>
                <a:ea typeface="Arial"/>
              </a:rPr>
              <a:t>종 자동 생성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rgbClr val="333333"/>
                </a:solidFill>
                <a:latin typeface="Arial"/>
                <a:ea typeface="Arial"/>
              </a:rPr>
              <a:t>UART1 </a:t>
            </a:r>
            <a:r>
              <a:rPr b="0" lang="ko-KR" sz="1400" spc="-1" strike="noStrike">
                <a:solidFill>
                  <a:srgbClr val="333333"/>
                </a:solidFill>
                <a:latin typeface="Arial"/>
                <a:ea typeface="Arial"/>
              </a:rPr>
              <a:t>디버그 로그 추가 </a:t>
            </a:r>
            <a:r>
              <a:rPr b="0" lang="en-US" sz="1400" spc="-1" strike="noStrike">
                <a:solidFill>
                  <a:srgbClr val="333333"/>
                </a:solidFill>
                <a:latin typeface="Arial"/>
                <a:ea typeface="Arial"/>
              </a:rPr>
              <a:t>(PB14/PB15, 115200bps)  ← </a:t>
            </a:r>
            <a:r>
              <a:rPr b="0" lang="ko-KR" sz="1400" spc="-1" strike="noStrike">
                <a:solidFill>
                  <a:srgbClr val="333333"/>
                </a:solidFill>
                <a:latin typeface="Arial"/>
                <a:ea typeface="Arial"/>
              </a:rPr>
              <a:t>신규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TextBox 2"/>
          <p:cNvSpPr/>
          <p:nvPr/>
        </p:nvSpPr>
        <p:spPr>
          <a:xfrm>
            <a:off x="137160" y="45720"/>
            <a:ext cx="77720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디버그 세션 개요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67" name="TextBox 3"/>
          <p:cNvSpPr/>
          <p:nvPr/>
        </p:nvSpPr>
        <p:spPr>
          <a:xfrm>
            <a:off x="137160" y="658440"/>
            <a:ext cx="86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2026.04 | 93C56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프로그래머 보드 진단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68" name="TextBox 4"/>
          <p:cNvSpPr/>
          <p:nvPr/>
        </p:nvSpPr>
        <p:spPr>
          <a:xfrm>
            <a:off x="274320" y="914400"/>
            <a:ext cx="8595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문제 증상 </a:t>
            </a: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(</a:t>
            </a: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초기 </a:t>
            </a: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UART </a:t>
            </a: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출력</a:t>
            </a: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69" name="Rectangle 5"/>
          <p:cNvSpPr/>
          <p:nvPr/>
        </p:nvSpPr>
        <p:spPr>
          <a:xfrm>
            <a:off x="274320" y="1234440"/>
            <a:ext cx="5303160" cy="22856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TextBox 6"/>
          <p:cNvSpPr/>
          <p:nvPr/>
        </p:nvSpPr>
        <p:spPr>
          <a:xfrm>
            <a:off x="384120" y="128016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d7d31"/>
                </a:solidFill>
                <a:latin typeface="Calibri"/>
              </a:rPr>
              <a:t>[DIAG] CS00: WR=OK    RB=0x48  ---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1" name="TextBox 7"/>
          <p:cNvSpPr/>
          <p:nvPr/>
        </p:nvSpPr>
        <p:spPr>
          <a:xfrm>
            <a:off x="384120" y="149976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d7d31"/>
                </a:solidFill>
                <a:latin typeface="Calibri"/>
              </a:rPr>
              <a:t>[DIAG] CS01: WR=OK    RB=0x48  ---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2" name="TextBox 8"/>
          <p:cNvSpPr/>
          <p:nvPr/>
        </p:nvSpPr>
        <p:spPr>
          <a:xfrm>
            <a:off x="384120" y="171900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d7d31"/>
                </a:solidFill>
                <a:latin typeface="Calibri"/>
              </a:rPr>
              <a:t>[DIAG] CS02: WR=OK    RB=0x48  ---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3" name="TextBox 9"/>
          <p:cNvSpPr/>
          <p:nvPr/>
        </p:nvSpPr>
        <p:spPr>
          <a:xfrm>
            <a:off x="384120" y="193860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d7d31"/>
                </a:solidFill>
                <a:latin typeface="Calibri"/>
              </a:rPr>
              <a:t>[DIAG] CS03: WR=OK    RB=0x48  ---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4" name="TextBox 10"/>
          <p:cNvSpPr/>
          <p:nvPr/>
        </p:nvSpPr>
        <p:spPr>
          <a:xfrm>
            <a:off x="384120" y="215784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[DIAG] CS04: WR=TOUT  RB=0xFF  ---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5" name="TextBox 11"/>
          <p:cNvSpPr/>
          <p:nvPr/>
        </p:nvSpPr>
        <p:spPr>
          <a:xfrm>
            <a:off x="384120" y="237744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[DIAG] CS05: WR=TOUT  RB=0xFF  ---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6" name="TextBox 12"/>
          <p:cNvSpPr/>
          <p:nvPr/>
        </p:nvSpPr>
        <p:spPr>
          <a:xfrm>
            <a:off x="384120" y="259704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  </a:t>
            </a: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...  (CS06 ~ CS11 </a:t>
            </a:r>
            <a:r>
              <a:rPr b="0" lang="ko-KR" sz="1000" spc="-1" strike="noStrike">
                <a:solidFill>
                  <a:srgbClr val="c00000"/>
                </a:solidFill>
                <a:latin typeface="Calibri"/>
              </a:rPr>
              <a:t>모두 </a:t>
            </a: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TOUT)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7" name="TextBox 13"/>
          <p:cNvSpPr/>
          <p:nvPr/>
        </p:nvSpPr>
        <p:spPr>
          <a:xfrm>
            <a:off x="384120" y="2816280"/>
            <a:ext cx="5083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[WAIT] Waiting for memory board...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78" name="Rectangle 14"/>
          <p:cNvSpPr/>
          <p:nvPr/>
        </p:nvSpPr>
        <p:spPr>
          <a:xfrm>
            <a:off x="5760720" y="1234440"/>
            <a:ext cx="3200040" cy="22856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9" name="TextBox 15"/>
          <p:cNvSpPr/>
          <p:nvPr/>
        </p:nvSpPr>
        <p:spPr>
          <a:xfrm>
            <a:off x="5852160" y="1280160"/>
            <a:ext cx="3017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200" spc="-1" strike="noStrike">
                <a:solidFill>
                  <a:srgbClr val="2e74b5"/>
                </a:solidFill>
                <a:latin typeface="Calibri"/>
              </a:rPr>
              <a:t>현상 요약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0" name="TextBox 16"/>
          <p:cNvSpPr/>
          <p:nvPr/>
        </p:nvSpPr>
        <p:spPr>
          <a:xfrm>
            <a:off x="5870520" y="1554480"/>
            <a:ext cx="298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d7d31"/>
                </a:solidFill>
                <a:latin typeface="Calibri"/>
              </a:rPr>
              <a:t>① </a:t>
            </a:r>
            <a:r>
              <a:rPr b="0" lang="en-US" sz="1000" spc="-1" strike="noStrike">
                <a:solidFill>
                  <a:srgbClr val="ed7d31"/>
                </a:solidFill>
                <a:latin typeface="Calibri"/>
              </a:rPr>
              <a:t>CS00-03: WR=OK </a:t>
            </a:r>
            <a:r>
              <a:rPr b="0" lang="ko-KR" sz="1000" spc="-1" strike="noStrike">
                <a:solidFill>
                  <a:srgbClr val="ed7d31"/>
                </a:solidFill>
                <a:latin typeface="Calibri"/>
              </a:rPr>
              <a:t>이지만 </a:t>
            </a:r>
            <a:r>
              <a:rPr b="0" lang="en-US" sz="1000" spc="-1" strike="noStrike">
                <a:solidFill>
                  <a:srgbClr val="ed7d31"/>
                </a:solidFill>
                <a:latin typeface="Calibri"/>
              </a:rPr>
              <a:t>RB≠0xA5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1" name="TextBox 17"/>
          <p:cNvSpPr/>
          <p:nvPr/>
        </p:nvSpPr>
        <p:spPr>
          <a:xfrm>
            <a:off x="5870520" y="1774080"/>
            <a:ext cx="298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→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쓰기 완료 신호 감지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,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그러나 데이터 불일치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2" name="TextBox 18"/>
          <p:cNvSpPr/>
          <p:nvPr/>
        </p:nvSpPr>
        <p:spPr>
          <a:xfrm>
            <a:off x="5870520" y="1993320"/>
            <a:ext cx="298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② </a:t>
            </a: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CS04-11: WR=TOUT (</a:t>
            </a:r>
            <a:r>
              <a:rPr b="0" lang="ko-KR" sz="1000" spc="-1" strike="noStrike">
                <a:solidFill>
                  <a:srgbClr val="c00000"/>
                </a:solidFill>
                <a:latin typeface="Calibri"/>
              </a:rPr>
              <a:t>타임아웃</a:t>
            </a: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3" name="TextBox 19"/>
          <p:cNvSpPr/>
          <p:nvPr/>
        </p:nvSpPr>
        <p:spPr>
          <a:xfrm>
            <a:off x="5870520" y="2212920"/>
            <a:ext cx="298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   → </a:t>
            </a: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DO </a:t>
            </a:r>
            <a:r>
              <a:rPr b="0" lang="ko-KR" sz="1000" spc="-1" strike="noStrike">
                <a:solidFill>
                  <a:srgbClr val="c00000"/>
                </a:solidFill>
                <a:latin typeface="Calibri"/>
              </a:rPr>
              <a:t>신호가 </a:t>
            </a: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HIGH</a:t>
            </a:r>
            <a:r>
              <a:rPr b="0" lang="ko-KR" sz="1000" spc="-1" strike="noStrike">
                <a:solidFill>
                  <a:srgbClr val="c00000"/>
                </a:solidFill>
                <a:latin typeface="Calibri"/>
              </a:rPr>
              <a:t>로 올라오지 않음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4" name="TextBox 20"/>
          <p:cNvSpPr/>
          <p:nvPr/>
        </p:nvSpPr>
        <p:spPr>
          <a:xfrm>
            <a:off x="5870520" y="2432160"/>
            <a:ext cx="298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③ </a:t>
            </a:r>
            <a:r>
              <a:rPr b="0" lang="en-US" sz="1000" spc="-1" strike="noStrike">
                <a:solidFill>
                  <a:srgbClr val="c00000"/>
                </a:solidFill>
                <a:latin typeface="Calibri"/>
              </a:rPr>
              <a:t>[WAIT] </a:t>
            </a:r>
            <a:r>
              <a:rPr b="0" lang="ko-KR" sz="1000" spc="-1" strike="noStrike">
                <a:solidFill>
                  <a:srgbClr val="c00000"/>
                </a:solidFill>
                <a:latin typeface="Calibri"/>
              </a:rPr>
              <a:t>무한 대기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5" name="TextBox 21"/>
          <p:cNvSpPr/>
          <p:nvPr/>
        </p:nvSpPr>
        <p:spPr>
          <a:xfrm>
            <a:off x="5870520" y="2651760"/>
            <a:ext cx="298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→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EE_Detect()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전체 실패 →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g_board_present=false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6" name="TextBox 22"/>
          <p:cNvSpPr/>
          <p:nvPr/>
        </p:nvSpPr>
        <p:spPr>
          <a:xfrm>
            <a:off x="274320" y="3611880"/>
            <a:ext cx="8595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조사 과정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7" name="Rectangle 23"/>
          <p:cNvSpPr/>
          <p:nvPr/>
        </p:nvSpPr>
        <p:spPr>
          <a:xfrm>
            <a:off x="274320" y="3931920"/>
            <a:ext cx="1919880" cy="3286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TextBox 24"/>
          <p:cNvSpPr/>
          <p:nvPr/>
        </p:nvSpPr>
        <p:spPr>
          <a:xfrm>
            <a:off x="320040" y="3959280"/>
            <a:ext cx="182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하드웨어 측정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89" name="TextBox 25"/>
          <p:cNvSpPr/>
          <p:nvPr/>
        </p:nvSpPr>
        <p:spPr>
          <a:xfrm>
            <a:off x="2286000" y="3968640"/>
            <a:ext cx="6491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ORG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핀 측정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(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오측정→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GND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재확인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), CS4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스코프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, DI/DO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측정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90" name="Rectangle 26"/>
          <p:cNvSpPr/>
          <p:nvPr/>
        </p:nvSpPr>
        <p:spPr>
          <a:xfrm>
            <a:off x="274320" y="4316040"/>
            <a:ext cx="1919880" cy="3286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1" name="TextBox 27"/>
          <p:cNvSpPr/>
          <p:nvPr/>
        </p:nvSpPr>
        <p:spPr>
          <a:xfrm>
            <a:off x="320040" y="4343400"/>
            <a:ext cx="182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MUX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배선 확인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92" name="TextBox 28"/>
          <p:cNvSpPr/>
          <p:nvPr/>
        </p:nvSpPr>
        <p:spPr>
          <a:xfrm>
            <a:off x="2286000" y="4352400"/>
            <a:ext cx="6491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멀티미터 통전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: CD4067 X4~X11 → U23~U30 DO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핀 연결 확인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93" name="Rectangle 29"/>
          <p:cNvSpPr/>
          <p:nvPr/>
        </p:nvSpPr>
        <p:spPr>
          <a:xfrm>
            <a:off x="274320" y="4700160"/>
            <a:ext cx="1919880" cy="3286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4" name="TextBox 30"/>
          <p:cNvSpPr/>
          <p:nvPr/>
        </p:nvSpPr>
        <p:spPr>
          <a:xfrm>
            <a:off x="320040" y="4727520"/>
            <a:ext cx="182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GPIO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진단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95" name="TextBox 31"/>
          <p:cNvSpPr/>
          <p:nvPr/>
        </p:nvSpPr>
        <p:spPr>
          <a:xfrm>
            <a:off x="2286000" y="4736520"/>
            <a:ext cx="6491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PB4(CS4) IDR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테스트 추가 →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IDR=0 GPIO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정상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96" name="Rectangle 32"/>
          <p:cNvSpPr/>
          <p:nvPr/>
        </p:nvSpPr>
        <p:spPr>
          <a:xfrm>
            <a:off x="274320" y="5083920"/>
            <a:ext cx="1919880" cy="3286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7" name="TextBox 33"/>
          <p:cNvSpPr/>
          <p:nvPr/>
        </p:nvSpPr>
        <p:spPr>
          <a:xfrm>
            <a:off x="320040" y="5111640"/>
            <a:ext cx="182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U24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직접 측정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398" name="TextBox 34"/>
          <p:cNvSpPr/>
          <p:nvPr/>
        </p:nvSpPr>
        <p:spPr>
          <a:xfrm>
            <a:off x="2286000" y="5120640"/>
            <a:ext cx="6491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CS 70ms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펄스 ✓ 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VCC 3.3V ✓  DO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항상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LOW ✗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Rectangle 1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TextBox 2"/>
          <p:cNvSpPr/>
          <p:nvPr/>
        </p:nvSpPr>
        <p:spPr>
          <a:xfrm>
            <a:off x="137160" y="45720"/>
            <a:ext cx="77720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하드웨어 측정 결과 및 원인 분석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01" name="TextBox 3"/>
          <p:cNvSpPr/>
          <p:nvPr/>
        </p:nvSpPr>
        <p:spPr>
          <a:xfrm>
            <a:off x="137160" y="658440"/>
            <a:ext cx="86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스코프 </a:t>
            </a: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/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멀티미터 </a:t>
            </a: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/ UART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진단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02" name="TextBox 4"/>
          <p:cNvSpPr/>
          <p:nvPr/>
        </p:nvSpPr>
        <p:spPr>
          <a:xfrm>
            <a:off x="274320" y="822960"/>
            <a:ext cx="5486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300" spc="-1" strike="noStrike">
                <a:solidFill>
                  <a:srgbClr val="2e74b5"/>
                </a:solidFill>
                <a:latin typeface="Calibri"/>
              </a:rPr>
              <a:t>핀</a:t>
            </a:r>
            <a:r>
              <a:rPr b="1" lang="en-US" sz="1300" spc="-1" strike="noStrike">
                <a:solidFill>
                  <a:srgbClr val="2e74b5"/>
                </a:solidFill>
                <a:latin typeface="Calibri"/>
              </a:rPr>
              <a:t>/</a:t>
            </a:r>
            <a:r>
              <a:rPr b="1" lang="ko-KR" sz="1300" spc="-1" strike="noStrike">
                <a:solidFill>
                  <a:srgbClr val="2e74b5"/>
                </a:solidFill>
                <a:latin typeface="Calibri"/>
              </a:rPr>
              <a:t>신호 측정 결과 </a:t>
            </a:r>
            <a:r>
              <a:rPr b="1" lang="en-US" sz="1300" spc="-1" strike="noStrike">
                <a:solidFill>
                  <a:srgbClr val="2e74b5"/>
                </a:solidFill>
                <a:latin typeface="Calibri"/>
              </a:rPr>
              <a:t>(</a:t>
            </a:r>
            <a:r>
              <a:rPr b="1" lang="ko-KR" sz="1300" spc="-1" strike="noStrike">
                <a:solidFill>
                  <a:srgbClr val="2e74b5"/>
                </a:solidFill>
                <a:latin typeface="Calibri"/>
              </a:rPr>
              <a:t>메모리 보드 연결 상태</a:t>
            </a:r>
            <a:r>
              <a:rPr b="1" lang="en-US" sz="1300" spc="-1" strike="noStrike">
                <a:solidFill>
                  <a:srgbClr val="2e74b5"/>
                </a:solidFill>
                <a:latin typeface="Calibri"/>
              </a:rPr>
              <a:t>)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03" name="Rectangle 5"/>
          <p:cNvSpPr/>
          <p:nvPr/>
        </p:nvSpPr>
        <p:spPr>
          <a:xfrm>
            <a:off x="274320" y="1143000"/>
            <a:ext cx="1992960" cy="273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4" name="TextBox 6"/>
          <p:cNvSpPr/>
          <p:nvPr/>
        </p:nvSpPr>
        <p:spPr>
          <a:xfrm>
            <a:off x="320040" y="1161360"/>
            <a:ext cx="1919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측정 대상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05" name="Rectangle 7"/>
          <p:cNvSpPr/>
          <p:nvPr/>
        </p:nvSpPr>
        <p:spPr>
          <a:xfrm>
            <a:off x="2286000" y="1143000"/>
            <a:ext cx="1627200" cy="273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8"/>
          <p:cNvSpPr/>
          <p:nvPr/>
        </p:nvSpPr>
        <p:spPr>
          <a:xfrm>
            <a:off x="2331720" y="116136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측정값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07" name="Rectangle 9"/>
          <p:cNvSpPr/>
          <p:nvPr/>
        </p:nvSpPr>
        <p:spPr>
          <a:xfrm>
            <a:off x="3931920" y="1143000"/>
            <a:ext cx="2175840" cy="273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8" name="TextBox 10"/>
          <p:cNvSpPr/>
          <p:nvPr/>
        </p:nvSpPr>
        <p:spPr>
          <a:xfrm>
            <a:off x="3977640" y="1161360"/>
            <a:ext cx="2102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의미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09" name="Rectangle 11"/>
          <p:cNvSpPr/>
          <p:nvPr/>
        </p:nvSpPr>
        <p:spPr>
          <a:xfrm>
            <a:off x="6126480" y="1143000"/>
            <a:ext cx="529920" cy="273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TextBox 12"/>
          <p:cNvSpPr/>
          <p:nvPr/>
        </p:nvSpPr>
        <p:spPr>
          <a:xfrm>
            <a:off x="6172200" y="1161360"/>
            <a:ext cx="456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상태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11" name="Rectangle 13"/>
          <p:cNvSpPr/>
          <p:nvPr/>
        </p:nvSpPr>
        <p:spPr>
          <a:xfrm>
            <a:off x="274320" y="1417320"/>
            <a:ext cx="199296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14"/>
          <p:cNvSpPr/>
          <p:nvPr/>
        </p:nvSpPr>
        <p:spPr>
          <a:xfrm>
            <a:off x="329040" y="144468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ORG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핀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(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모든 칩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13" name="Rectangle 15"/>
          <p:cNvSpPr/>
          <p:nvPr/>
        </p:nvSpPr>
        <p:spPr>
          <a:xfrm>
            <a:off x="2286000" y="1417320"/>
            <a:ext cx="162720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TextBox 16"/>
          <p:cNvSpPr/>
          <p:nvPr/>
        </p:nvSpPr>
        <p:spPr>
          <a:xfrm>
            <a:off x="2340720" y="144468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GND (0V) </a:t>
            </a:r>
            <a:r>
              <a:rPr b="0" lang="ko-KR" sz="900" spc="-1" strike="noStrike">
                <a:solidFill>
                  <a:srgbClr val="378638"/>
                </a:solidFill>
                <a:latin typeface="Calibri"/>
              </a:rPr>
              <a:t>고정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15" name="Rectangle 17"/>
          <p:cNvSpPr/>
          <p:nvPr/>
        </p:nvSpPr>
        <p:spPr>
          <a:xfrm>
            <a:off x="3931920" y="1417320"/>
            <a:ext cx="217584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TextBox 18"/>
          <p:cNvSpPr/>
          <p:nvPr/>
        </p:nvSpPr>
        <p:spPr>
          <a:xfrm>
            <a:off x="3986640" y="144468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x8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모드 확인됨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17" name="Rectangle 19"/>
          <p:cNvSpPr/>
          <p:nvPr/>
        </p:nvSpPr>
        <p:spPr>
          <a:xfrm>
            <a:off x="6126480" y="1417320"/>
            <a:ext cx="52992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8" name="TextBox 20"/>
          <p:cNvSpPr/>
          <p:nvPr/>
        </p:nvSpPr>
        <p:spPr>
          <a:xfrm>
            <a:off x="6181200" y="144468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✓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19" name="Rectangle 21"/>
          <p:cNvSpPr/>
          <p:nvPr/>
        </p:nvSpPr>
        <p:spPr>
          <a:xfrm>
            <a:off x="274320" y="1710000"/>
            <a:ext cx="199296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22"/>
          <p:cNvSpPr/>
          <p:nvPr/>
        </p:nvSpPr>
        <p:spPr>
          <a:xfrm>
            <a:off x="329040" y="173736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CS0-CS3 CS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신호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21" name="Rectangle 23"/>
          <p:cNvSpPr/>
          <p:nvPr/>
        </p:nvSpPr>
        <p:spPr>
          <a:xfrm>
            <a:off x="2286000" y="1710000"/>
            <a:ext cx="162720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TextBox 24"/>
          <p:cNvSpPr/>
          <p:nvPr/>
        </p:nvSpPr>
        <p:spPr>
          <a:xfrm>
            <a:off x="2340720" y="173736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70ms </a:t>
            </a:r>
            <a:r>
              <a:rPr b="0" lang="ko-KR" sz="900" spc="-1" strike="noStrike">
                <a:solidFill>
                  <a:srgbClr val="378638"/>
                </a:solidFill>
                <a:latin typeface="Calibri"/>
              </a:rPr>
              <a:t>펄스 정상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23" name="Rectangle 25"/>
          <p:cNvSpPr/>
          <p:nvPr/>
        </p:nvSpPr>
        <p:spPr>
          <a:xfrm>
            <a:off x="3931920" y="1710000"/>
            <a:ext cx="217584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26"/>
          <p:cNvSpPr/>
          <p:nvPr/>
        </p:nvSpPr>
        <p:spPr>
          <a:xfrm>
            <a:off x="3986640" y="173736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MCU →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칩 도달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25" name="Rectangle 27"/>
          <p:cNvSpPr/>
          <p:nvPr/>
        </p:nvSpPr>
        <p:spPr>
          <a:xfrm>
            <a:off x="6126480" y="1710000"/>
            <a:ext cx="5299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TextBox 28"/>
          <p:cNvSpPr/>
          <p:nvPr/>
        </p:nvSpPr>
        <p:spPr>
          <a:xfrm>
            <a:off x="6181200" y="173736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✓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27" name="Rectangle 29"/>
          <p:cNvSpPr/>
          <p:nvPr/>
        </p:nvSpPr>
        <p:spPr>
          <a:xfrm>
            <a:off x="274320" y="2002680"/>
            <a:ext cx="199296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TextBox 30"/>
          <p:cNvSpPr/>
          <p:nvPr/>
        </p:nvSpPr>
        <p:spPr>
          <a:xfrm>
            <a:off x="329040" y="203004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CS4 (PB4/U23) CS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29" name="Rectangle 31"/>
          <p:cNvSpPr/>
          <p:nvPr/>
        </p:nvSpPr>
        <p:spPr>
          <a:xfrm>
            <a:off x="2286000" y="2002680"/>
            <a:ext cx="162720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32"/>
          <p:cNvSpPr/>
          <p:nvPr/>
        </p:nvSpPr>
        <p:spPr>
          <a:xfrm>
            <a:off x="2340720" y="203004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ed7d31"/>
                </a:solidFill>
                <a:latin typeface="Calibri"/>
              </a:rPr>
              <a:t>무신호 </a:t>
            </a:r>
            <a:r>
              <a:rPr b="0" lang="en-US" sz="900" spc="-1" strike="noStrike">
                <a:solidFill>
                  <a:srgbClr val="ed7d31"/>
                </a:solidFill>
                <a:latin typeface="Calibri"/>
              </a:rPr>
              <a:t>(</a:t>
            </a:r>
            <a:r>
              <a:rPr b="0" lang="ko-KR" sz="900" spc="-1" strike="noStrike">
                <a:solidFill>
                  <a:srgbClr val="ed7d31"/>
                </a:solidFill>
                <a:latin typeface="Calibri"/>
              </a:rPr>
              <a:t>상태 불명</a:t>
            </a:r>
            <a:r>
              <a:rPr b="0" lang="en-US" sz="900" spc="-1" strike="noStrike">
                <a:solidFill>
                  <a:srgbClr val="ed7d31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31" name="Rectangle 33"/>
          <p:cNvSpPr/>
          <p:nvPr/>
        </p:nvSpPr>
        <p:spPr>
          <a:xfrm>
            <a:off x="3931920" y="2002680"/>
            <a:ext cx="217584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2" name="TextBox 34"/>
          <p:cNvSpPr/>
          <p:nvPr/>
        </p:nvSpPr>
        <p:spPr>
          <a:xfrm>
            <a:off x="3986640" y="203004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원인 조사 중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33" name="Rectangle 35"/>
          <p:cNvSpPr/>
          <p:nvPr/>
        </p:nvSpPr>
        <p:spPr>
          <a:xfrm>
            <a:off x="6126480" y="2002680"/>
            <a:ext cx="52992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4" name="TextBox 36"/>
          <p:cNvSpPr/>
          <p:nvPr/>
        </p:nvSpPr>
        <p:spPr>
          <a:xfrm>
            <a:off x="6181200" y="203004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ed7d31"/>
                </a:solidFill>
                <a:latin typeface="Calibri"/>
              </a:rPr>
              <a:t>?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35" name="Rectangle 37"/>
          <p:cNvSpPr/>
          <p:nvPr/>
        </p:nvSpPr>
        <p:spPr>
          <a:xfrm>
            <a:off x="274320" y="2295000"/>
            <a:ext cx="199296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6" name="TextBox 38"/>
          <p:cNvSpPr/>
          <p:nvPr/>
        </p:nvSpPr>
        <p:spPr>
          <a:xfrm>
            <a:off x="329040" y="232272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CS5-CS11 CS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신호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37" name="Rectangle 39"/>
          <p:cNvSpPr/>
          <p:nvPr/>
        </p:nvSpPr>
        <p:spPr>
          <a:xfrm>
            <a:off x="2286000" y="2295000"/>
            <a:ext cx="162720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40"/>
          <p:cNvSpPr/>
          <p:nvPr/>
        </p:nvSpPr>
        <p:spPr>
          <a:xfrm>
            <a:off x="2340720" y="232272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70ms </a:t>
            </a:r>
            <a:r>
              <a:rPr b="0" lang="ko-KR" sz="900" spc="-1" strike="noStrike">
                <a:solidFill>
                  <a:srgbClr val="378638"/>
                </a:solidFill>
                <a:latin typeface="Calibri"/>
              </a:rPr>
              <a:t>펄스 정상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39" name="Rectangle 41"/>
          <p:cNvSpPr/>
          <p:nvPr/>
        </p:nvSpPr>
        <p:spPr>
          <a:xfrm>
            <a:off x="3931920" y="2295000"/>
            <a:ext cx="217584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TextBox 42"/>
          <p:cNvSpPr/>
          <p:nvPr/>
        </p:nvSpPr>
        <p:spPr>
          <a:xfrm>
            <a:off x="3986640" y="232272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MCU GPIO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정상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41" name="Rectangle 43"/>
          <p:cNvSpPr/>
          <p:nvPr/>
        </p:nvSpPr>
        <p:spPr>
          <a:xfrm>
            <a:off x="6126480" y="2295000"/>
            <a:ext cx="5299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2" name="TextBox 44"/>
          <p:cNvSpPr/>
          <p:nvPr/>
        </p:nvSpPr>
        <p:spPr>
          <a:xfrm>
            <a:off x="6181200" y="232272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✓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43" name="Rectangle 45"/>
          <p:cNvSpPr/>
          <p:nvPr/>
        </p:nvSpPr>
        <p:spPr>
          <a:xfrm>
            <a:off x="274320" y="2587680"/>
            <a:ext cx="199296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46"/>
          <p:cNvSpPr/>
          <p:nvPr/>
        </p:nvSpPr>
        <p:spPr>
          <a:xfrm>
            <a:off x="329040" y="261504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U24 VCC (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핀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6)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45" name="Rectangle 47"/>
          <p:cNvSpPr/>
          <p:nvPr/>
        </p:nvSpPr>
        <p:spPr>
          <a:xfrm>
            <a:off x="2286000" y="2587680"/>
            <a:ext cx="162720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6" name="TextBox 48"/>
          <p:cNvSpPr/>
          <p:nvPr/>
        </p:nvSpPr>
        <p:spPr>
          <a:xfrm>
            <a:off x="2340720" y="261504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3.3V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47" name="Rectangle 49"/>
          <p:cNvSpPr/>
          <p:nvPr/>
        </p:nvSpPr>
        <p:spPr>
          <a:xfrm>
            <a:off x="3931920" y="2587680"/>
            <a:ext cx="217584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8" name="TextBox 50"/>
          <p:cNvSpPr/>
          <p:nvPr/>
        </p:nvSpPr>
        <p:spPr>
          <a:xfrm>
            <a:off x="3986640" y="261504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전원 정상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49" name="Rectangle 51"/>
          <p:cNvSpPr/>
          <p:nvPr/>
        </p:nvSpPr>
        <p:spPr>
          <a:xfrm>
            <a:off x="6126480" y="2587680"/>
            <a:ext cx="52992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0" name="TextBox 52"/>
          <p:cNvSpPr/>
          <p:nvPr/>
        </p:nvSpPr>
        <p:spPr>
          <a:xfrm>
            <a:off x="6181200" y="261504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✓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51" name="Rectangle 53"/>
          <p:cNvSpPr/>
          <p:nvPr/>
        </p:nvSpPr>
        <p:spPr>
          <a:xfrm>
            <a:off x="274320" y="2880360"/>
            <a:ext cx="199296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TextBox 54"/>
          <p:cNvSpPr/>
          <p:nvPr/>
        </p:nvSpPr>
        <p:spPr>
          <a:xfrm>
            <a:off x="329040" y="290772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U24 DI (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핀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3)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53" name="Rectangle 55"/>
          <p:cNvSpPr/>
          <p:nvPr/>
        </p:nvSpPr>
        <p:spPr>
          <a:xfrm>
            <a:off x="2286000" y="2880360"/>
            <a:ext cx="162720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TextBox 56"/>
          <p:cNvSpPr/>
          <p:nvPr/>
        </p:nvSpPr>
        <p:spPr>
          <a:xfrm>
            <a:off x="2340720" y="290772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CLK</a:t>
            </a:r>
            <a:r>
              <a:rPr b="0" lang="ko-KR" sz="900" spc="-1" strike="noStrike">
                <a:solidFill>
                  <a:srgbClr val="378638"/>
                </a:solidFill>
                <a:latin typeface="Calibri"/>
              </a:rPr>
              <a:t>동기 펄스 있음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55" name="Rectangle 57"/>
          <p:cNvSpPr/>
          <p:nvPr/>
        </p:nvSpPr>
        <p:spPr>
          <a:xfrm>
            <a:off x="3931920" y="2880360"/>
            <a:ext cx="217584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6" name="TextBox 58"/>
          <p:cNvSpPr/>
          <p:nvPr/>
        </p:nvSpPr>
        <p:spPr>
          <a:xfrm>
            <a:off x="3986640" y="290772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DIN (PC0)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도달 확인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57" name="Rectangle 59"/>
          <p:cNvSpPr/>
          <p:nvPr/>
        </p:nvSpPr>
        <p:spPr>
          <a:xfrm>
            <a:off x="6126480" y="2880360"/>
            <a:ext cx="5299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TextBox 60"/>
          <p:cNvSpPr/>
          <p:nvPr/>
        </p:nvSpPr>
        <p:spPr>
          <a:xfrm>
            <a:off x="6181200" y="290772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✓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59" name="Rectangle 61"/>
          <p:cNvSpPr/>
          <p:nvPr/>
        </p:nvSpPr>
        <p:spPr>
          <a:xfrm>
            <a:off x="274320" y="3173040"/>
            <a:ext cx="199296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0" name="TextBox 62"/>
          <p:cNvSpPr/>
          <p:nvPr/>
        </p:nvSpPr>
        <p:spPr>
          <a:xfrm>
            <a:off x="329040" y="320040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U24 SK (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핀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2)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61" name="Rectangle 63"/>
          <p:cNvSpPr/>
          <p:nvPr/>
        </p:nvSpPr>
        <p:spPr>
          <a:xfrm>
            <a:off x="2286000" y="3173040"/>
            <a:ext cx="162720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TextBox 64"/>
          <p:cNvSpPr/>
          <p:nvPr/>
        </p:nvSpPr>
        <p:spPr>
          <a:xfrm>
            <a:off x="2340720" y="320040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ed7d31"/>
                </a:solidFill>
                <a:latin typeface="Calibri"/>
              </a:rPr>
              <a:t>미확인 ← 다음 체크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63" name="Rectangle 65"/>
          <p:cNvSpPr/>
          <p:nvPr/>
        </p:nvSpPr>
        <p:spPr>
          <a:xfrm>
            <a:off x="3931920" y="3173040"/>
            <a:ext cx="217584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TextBox 66"/>
          <p:cNvSpPr/>
          <p:nvPr/>
        </p:nvSpPr>
        <p:spPr>
          <a:xfrm>
            <a:off x="3986640" y="320040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클락 도달 여부 불명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65" name="Rectangle 67"/>
          <p:cNvSpPr/>
          <p:nvPr/>
        </p:nvSpPr>
        <p:spPr>
          <a:xfrm>
            <a:off x="6126480" y="3173040"/>
            <a:ext cx="52992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TextBox 68"/>
          <p:cNvSpPr/>
          <p:nvPr/>
        </p:nvSpPr>
        <p:spPr>
          <a:xfrm>
            <a:off x="6181200" y="320040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ed7d31"/>
                </a:solidFill>
                <a:latin typeface="Calibri"/>
              </a:rPr>
              <a:t>?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67" name="Rectangle 69"/>
          <p:cNvSpPr/>
          <p:nvPr/>
        </p:nvSpPr>
        <p:spPr>
          <a:xfrm>
            <a:off x="274320" y="3465720"/>
            <a:ext cx="199296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8" name="TextBox 70"/>
          <p:cNvSpPr/>
          <p:nvPr/>
        </p:nvSpPr>
        <p:spPr>
          <a:xfrm>
            <a:off x="329040" y="349308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U24 DO (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핀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4)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69" name="Rectangle 71"/>
          <p:cNvSpPr/>
          <p:nvPr/>
        </p:nvSpPr>
        <p:spPr>
          <a:xfrm>
            <a:off x="2286000" y="3465720"/>
            <a:ext cx="162720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72"/>
          <p:cNvSpPr/>
          <p:nvPr/>
        </p:nvSpPr>
        <p:spPr>
          <a:xfrm>
            <a:off x="2340720" y="349308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c00000"/>
                </a:solidFill>
                <a:latin typeface="Calibri"/>
              </a:rPr>
              <a:t>항상 </a:t>
            </a:r>
            <a:r>
              <a:rPr b="0" lang="en-US" sz="900" spc="-1" strike="noStrike">
                <a:solidFill>
                  <a:srgbClr val="c00000"/>
                </a:solidFill>
                <a:latin typeface="Calibri"/>
              </a:rPr>
              <a:t>LOW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71" name="Rectangle 73"/>
          <p:cNvSpPr/>
          <p:nvPr/>
        </p:nvSpPr>
        <p:spPr>
          <a:xfrm>
            <a:off x="3931920" y="3465720"/>
            <a:ext cx="217584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TextBox 74"/>
          <p:cNvSpPr/>
          <p:nvPr/>
        </p:nvSpPr>
        <p:spPr>
          <a:xfrm>
            <a:off x="3986640" y="349308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칩 응답 없음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73" name="Rectangle 75"/>
          <p:cNvSpPr/>
          <p:nvPr/>
        </p:nvSpPr>
        <p:spPr>
          <a:xfrm>
            <a:off x="6126480" y="3465720"/>
            <a:ext cx="5299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4" name="TextBox 76"/>
          <p:cNvSpPr/>
          <p:nvPr/>
        </p:nvSpPr>
        <p:spPr>
          <a:xfrm>
            <a:off x="6181200" y="349308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c00000"/>
                </a:solidFill>
                <a:latin typeface="Calibri"/>
              </a:rPr>
              <a:t>✗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75" name="Rectangle 77"/>
          <p:cNvSpPr/>
          <p:nvPr/>
        </p:nvSpPr>
        <p:spPr>
          <a:xfrm>
            <a:off x="274320" y="3758040"/>
            <a:ext cx="199296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6" name="TextBox 78"/>
          <p:cNvSpPr/>
          <p:nvPr/>
        </p:nvSpPr>
        <p:spPr>
          <a:xfrm>
            <a:off x="329040" y="378576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MUX X4~X11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통전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77" name="Rectangle 79"/>
          <p:cNvSpPr/>
          <p:nvPr/>
        </p:nvSpPr>
        <p:spPr>
          <a:xfrm>
            <a:off x="2286000" y="3758040"/>
            <a:ext cx="162720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TextBox 80"/>
          <p:cNvSpPr/>
          <p:nvPr/>
        </p:nvSpPr>
        <p:spPr>
          <a:xfrm>
            <a:off x="2340720" y="378576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378638"/>
                </a:solidFill>
                <a:latin typeface="Calibri"/>
              </a:rPr>
              <a:t>확인됨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79" name="Rectangle 81"/>
          <p:cNvSpPr/>
          <p:nvPr/>
        </p:nvSpPr>
        <p:spPr>
          <a:xfrm>
            <a:off x="3931920" y="3758040"/>
            <a:ext cx="217584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0" name="TextBox 82"/>
          <p:cNvSpPr/>
          <p:nvPr/>
        </p:nvSpPr>
        <p:spPr>
          <a:xfrm>
            <a:off x="3986640" y="378576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CD4067→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칩 배선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OK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81" name="Rectangle 83"/>
          <p:cNvSpPr/>
          <p:nvPr/>
        </p:nvSpPr>
        <p:spPr>
          <a:xfrm>
            <a:off x="6126480" y="3758040"/>
            <a:ext cx="529920" cy="29232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84"/>
          <p:cNvSpPr/>
          <p:nvPr/>
        </p:nvSpPr>
        <p:spPr>
          <a:xfrm>
            <a:off x="6181200" y="378576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✓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83" name="Rectangle 85"/>
          <p:cNvSpPr/>
          <p:nvPr/>
        </p:nvSpPr>
        <p:spPr>
          <a:xfrm>
            <a:off x="274320" y="4050720"/>
            <a:ext cx="199296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TextBox 86"/>
          <p:cNvSpPr/>
          <p:nvPr/>
        </p:nvSpPr>
        <p:spPr>
          <a:xfrm>
            <a:off x="329040" y="4078080"/>
            <a:ext cx="1901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PB4 IDR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테스트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85" name="Rectangle 87"/>
          <p:cNvSpPr/>
          <p:nvPr/>
        </p:nvSpPr>
        <p:spPr>
          <a:xfrm>
            <a:off x="2286000" y="4050720"/>
            <a:ext cx="162720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TextBox 88"/>
          <p:cNvSpPr/>
          <p:nvPr/>
        </p:nvSpPr>
        <p:spPr>
          <a:xfrm>
            <a:off x="2340720" y="4078080"/>
            <a:ext cx="1535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IDR=0 (GPIO </a:t>
            </a:r>
            <a:r>
              <a:rPr b="0" lang="ko-KR" sz="900" spc="-1" strike="noStrike">
                <a:solidFill>
                  <a:srgbClr val="378638"/>
                </a:solidFill>
                <a:latin typeface="Calibri"/>
              </a:rPr>
              <a:t>정상</a:t>
            </a: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87" name="Rectangle 89"/>
          <p:cNvSpPr/>
          <p:nvPr/>
        </p:nvSpPr>
        <p:spPr>
          <a:xfrm>
            <a:off x="3931920" y="4050720"/>
            <a:ext cx="217584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90"/>
          <p:cNvSpPr/>
          <p:nvPr/>
        </p:nvSpPr>
        <p:spPr>
          <a:xfrm>
            <a:off x="3986640" y="407808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JTAG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문제 아님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89" name="Rectangle 91"/>
          <p:cNvSpPr/>
          <p:nvPr/>
        </p:nvSpPr>
        <p:spPr>
          <a:xfrm>
            <a:off x="6126480" y="4050720"/>
            <a:ext cx="529920" cy="29232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TextBox 92"/>
          <p:cNvSpPr/>
          <p:nvPr/>
        </p:nvSpPr>
        <p:spPr>
          <a:xfrm>
            <a:off x="6181200" y="407808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✓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91" name="TextBox 93"/>
          <p:cNvSpPr/>
          <p:nvPr/>
        </p:nvSpPr>
        <p:spPr>
          <a:xfrm>
            <a:off x="5897880" y="822960"/>
            <a:ext cx="3017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300" spc="-1" strike="noStrike">
                <a:solidFill>
                  <a:srgbClr val="2e74b5"/>
                </a:solidFill>
                <a:latin typeface="Calibri"/>
              </a:rPr>
              <a:t>현재까지 원인 분석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92" name="Rectangle 94"/>
          <p:cNvSpPr/>
          <p:nvPr/>
        </p:nvSpPr>
        <p:spPr>
          <a:xfrm>
            <a:off x="5897880" y="1143000"/>
            <a:ext cx="3017160" cy="27396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95"/>
          <p:cNvSpPr/>
          <p:nvPr/>
        </p:nvSpPr>
        <p:spPr>
          <a:xfrm>
            <a:off x="5989320" y="1179720"/>
            <a:ext cx="2834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해결된 항목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94" name="Rectangle 96"/>
          <p:cNvSpPr/>
          <p:nvPr/>
        </p:nvSpPr>
        <p:spPr>
          <a:xfrm>
            <a:off x="5897880" y="1435680"/>
            <a:ext cx="3017160" cy="8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5" name="TextBox 97"/>
          <p:cNvSpPr/>
          <p:nvPr/>
        </p:nvSpPr>
        <p:spPr>
          <a:xfrm>
            <a:off x="5989320" y="1454040"/>
            <a:ext cx="2834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•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PB4 GPIO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정상 확인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(JTAG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문제 아님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, IDR=0)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96" name="Rectangle 98"/>
          <p:cNvSpPr/>
          <p:nvPr/>
        </p:nvSpPr>
        <p:spPr>
          <a:xfrm>
            <a:off x="5897880" y="1892880"/>
            <a:ext cx="3017160" cy="8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99"/>
          <p:cNvSpPr/>
          <p:nvPr/>
        </p:nvSpPr>
        <p:spPr>
          <a:xfrm>
            <a:off x="5989320" y="1911240"/>
            <a:ext cx="2834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•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MUX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배선 정상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(X4~X11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통전 확인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498" name="Rectangle 100"/>
          <p:cNvSpPr/>
          <p:nvPr/>
        </p:nvSpPr>
        <p:spPr>
          <a:xfrm>
            <a:off x="5897880" y="2350080"/>
            <a:ext cx="3017160" cy="8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9" name="TextBox 101"/>
          <p:cNvSpPr/>
          <p:nvPr/>
        </p:nvSpPr>
        <p:spPr>
          <a:xfrm>
            <a:off x="5989320" y="2368440"/>
            <a:ext cx="2834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•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ORG=GND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재확인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(x8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모드 올바름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00" name="Rectangle 102"/>
          <p:cNvSpPr/>
          <p:nvPr/>
        </p:nvSpPr>
        <p:spPr>
          <a:xfrm>
            <a:off x="5897880" y="2898720"/>
            <a:ext cx="3017160" cy="2739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03"/>
          <p:cNvSpPr/>
          <p:nvPr/>
        </p:nvSpPr>
        <p:spPr>
          <a:xfrm>
            <a:off x="5989320" y="2935080"/>
            <a:ext cx="2834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미해결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: DO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항상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LOW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02" name="Rectangle 104"/>
          <p:cNvSpPr/>
          <p:nvPr/>
        </p:nvSpPr>
        <p:spPr>
          <a:xfrm>
            <a:off x="5897880" y="3191400"/>
            <a:ext cx="3017160" cy="8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3" name="TextBox 105"/>
          <p:cNvSpPr/>
          <p:nvPr/>
        </p:nvSpPr>
        <p:spPr>
          <a:xfrm>
            <a:off x="5989320" y="3209400"/>
            <a:ext cx="2834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•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CS, VCC, DI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모두 정상인데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U24 DO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가 응답 없음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04" name="Rectangle 106"/>
          <p:cNvSpPr/>
          <p:nvPr/>
        </p:nvSpPr>
        <p:spPr>
          <a:xfrm>
            <a:off x="5897880" y="3648600"/>
            <a:ext cx="3017160" cy="8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107"/>
          <p:cNvSpPr/>
          <p:nvPr/>
        </p:nvSpPr>
        <p:spPr>
          <a:xfrm>
            <a:off x="5989320" y="3666600"/>
            <a:ext cx="28342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•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93C56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규격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: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CS=HIGH + SK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클락 수신 후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DO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구동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  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SK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미도달 가능성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06" name="Rectangle 108"/>
          <p:cNvSpPr/>
          <p:nvPr/>
        </p:nvSpPr>
        <p:spPr>
          <a:xfrm>
            <a:off x="5897880" y="4105800"/>
            <a:ext cx="3017160" cy="8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TextBox 109"/>
          <p:cNvSpPr/>
          <p:nvPr/>
        </p:nvSpPr>
        <p:spPr>
          <a:xfrm>
            <a:off x="5989320" y="4123800"/>
            <a:ext cx="28342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•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가능한 원인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: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A) SK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클락 칩 미도달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B) DO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핀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GND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단락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1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TextBox 2"/>
          <p:cNvSpPr/>
          <p:nvPr/>
        </p:nvSpPr>
        <p:spPr>
          <a:xfrm>
            <a:off x="137160" y="45720"/>
            <a:ext cx="77720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디버그 코드 변경 사항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10" name="TextBox 3"/>
          <p:cNvSpPr/>
          <p:nvPr/>
        </p:nvSpPr>
        <p:spPr>
          <a:xfrm>
            <a:off x="137160" y="658440"/>
            <a:ext cx="86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app_freertos.c / ee93c56.c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수정 내용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11" name="TextBox 4"/>
          <p:cNvSpPr/>
          <p:nvPr/>
        </p:nvSpPr>
        <p:spPr>
          <a:xfrm>
            <a:off x="274320" y="822960"/>
            <a:ext cx="8595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app_freertos.c — DIAG </a:t>
            </a: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섹션 강화 </a:t>
            </a: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(StartDetectTask)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12" name="Rectangle 5"/>
          <p:cNvSpPr/>
          <p:nvPr/>
        </p:nvSpPr>
        <p:spPr>
          <a:xfrm>
            <a:off x="274320" y="1170360"/>
            <a:ext cx="8595000" cy="2739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TextBox 6"/>
          <p:cNvSpPr/>
          <p:nvPr/>
        </p:nvSpPr>
        <p:spPr>
          <a:xfrm>
            <a:off x="365760" y="1207080"/>
            <a:ext cx="832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①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PB4 GPIO IDR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진단 추가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14" name="Rectangle 7"/>
          <p:cNvSpPr/>
          <p:nvPr/>
        </p:nvSpPr>
        <p:spPr>
          <a:xfrm>
            <a:off x="274320" y="1463040"/>
            <a:ext cx="8595000" cy="77688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8"/>
          <p:cNvSpPr/>
          <p:nvPr/>
        </p:nvSpPr>
        <p:spPr>
          <a:xfrm>
            <a:off x="384120" y="1499760"/>
            <a:ext cx="8320680" cy="7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HAL_GPIO_WritePin(GPIOB, GPIO_PIN_4, GPIO_PIN_RESET);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osDelay(1);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uint8_t pb4_idr = (GPIOB-&gt;IDR &amp; GPIO_PIN_4) ? 1 : 0;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uart_log("[DIAG] PB4(CS4) ODR=0 after, IDR=%u  %s\r\n", pb4_idr,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         </a:t>
            </a:r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pb4_idr ? "*** HW SHORT/PULLUP ***" : "GPIO OK");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16" name="Rectangle 9"/>
          <p:cNvSpPr/>
          <p:nvPr/>
        </p:nvSpPr>
        <p:spPr>
          <a:xfrm>
            <a:off x="274320" y="2304360"/>
            <a:ext cx="8595000" cy="2739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7" name="TextBox 10"/>
          <p:cNvSpPr/>
          <p:nvPr/>
        </p:nvSpPr>
        <p:spPr>
          <a:xfrm>
            <a:off x="365760" y="2340720"/>
            <a:ext cx="832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②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칩 자동 식별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(EE_IdentifyChip)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추가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18" name="Rectangle 11"/>
          <p:cNvSpPr/>
          <p:nvPr/>
        </p:nvSpPr>
        <p:spPr>
          <a:xfrm>
            <a:off x="274320" y="2597040"/>
            <a:ext cx="8595000" cy="77688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12"/>
          <p:cNvSpPr/>
          <p:nvPr/>
        </p:nvSpPr>
        <p:spPr>
          <a:xfrm>
            <a:off x="384120" y="2633400"/>
            <a:ext cx="8320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EE_ChipType ctype = EE_IdentifyChip();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uart_log("[DIAG] ChipType=%-7s  addr_bits=%u  num_addrs=%u\r\n",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         </a:t>
            </a:r>
            <a:r>
              <a:rPr b="0" lang="en-US" sz="900" spc="-1" strike="noStrike">
                <a:solidFill>
                  <a:srgbClr val="003366"/>
                </a:solidFill>
                <a:latin typeface="Calibri"/>
              </a:rPr>
              <a:t>cname, (unsigned)g_addr_bits, (unsigned)g_num_addrs);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20" name="TextBox 13"/>
          <p:cNvSpPr/>
          <p:nvPr/>
        </p:nvSpPr>
        <p:spPr>
          <a:xfrm>
            <a:off x="338400" y="3322080"/>
            <a:ext cx="8595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ee93c56.c — EE_IdentifyChip() </a:t>
            </a: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구현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grpSp>
        <p:nvGrpSpPr>
          <p:cNvPr id="521" name="그룹 29"/>
          <p:cNvGrpSpPr/>
          <p:nvPr/>
        </p:nvGrpSpPr>
        <p:grpSpPr>
          <a:xfrm>
            <a:off x="292680" y="3657960"/>
            <a:ext cx="1096920" cy="1449000"/>
            <a:chOff x="292680" y="3657960"/>
            <a:chExt cx="1096920" cy="1449000"/>
          </a:xfrm>
        </p:grpSpPr>
        <p:sp>
          <p:nvSpPr>
            <p:cNvPr id="522" name="Rectangle 14"/>
            <p:cNvSpPr/>
            <p:nvPr/>
          </p:nvSpPr>
          <p:spPr>
            <a:xfrm>
              <a:off x="292680" y="3657960"/>
              <a:ext cx="1096920" cy="27396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3" name="TextBox 15"/>
            <p:cNvSpPr/>
            <p:nvPr/>
          </p:nvSpPr>
          <p:spPr>
            <a:xfrm>
              <a:off x="338400" y="3694320"/>
              <a:ext cx="10054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1000" spc="-1" strike="noStrike">
                  <a:solidFill>
                    <a:srgbClr val="ffffff"/>
                  </a:solidFill>
                  <a:latin typeface="Calibri"/>
                </a:rPr>
                <a:t>기능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24" name="Rectangle 17"/>
            <p:cNvSpPr/>
            <p:nvPr/>
          </p:nvSpPr>
          <p:spPr>
            <a:xfrm>
              <a:off x="292680" y="3950280"/>
              <a:ext cx="1096920" cy="27396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5" name="TextBox 18"/>
            <p:cNvSpPr/>
            <p:nvPr/>
          </p:nvSpPr>
          <p:spPr>
            <a:xfrm>
              <a:off x="338400" y="3987000"/>
              <a:ext cx="10054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1000" spc="-1" strike="noStrike">
                  <a:solidFill>
                    <a:srgbClr val="ffffff"/>
                  </a:solidFill>
                  <a:latin typeface="Calibri"/>
                </a:rPr>
                <a:t>방법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26" name="Rectangle 20"/>
            <p:cNvSpPr/>
            <p:nvPr/>
          </p:nvSpPr>
          <p:spPr>
            <a:xfrm>
              <a:off x="292680" y="4242960"/>
              <a:ext cx="1096920" cy="27396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7" name="TextBox 21"/>
            <p:cNvSpPr/>
            <p:nvPr/>
          </p:nvSpPr>
          <p:spPr>
            <a:xfrm>
              <a:off x="338400" y="4279680"/>
              <a:ext cx="10054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1000" spc="-1" strike="noStrike">
                  <a:solidFill>
                    <a:srgbClr val="ffffff"/>
                  </a:solidFill>
                  <a:latin typeface="Calibri"/>
                </a:rPr>
                <a:t>방법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28" name="Rectangle 23"/>
            <p:cNvSpPr/>
            <p:nvPr/>
          </p:nvSpPr>
          <p:spPr>
            <a:xfrm>
              <a:off x="292680" y="4535640"/>
              <a:ext cx="1096920" cy="27396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9" name="TextBox 24"/>
            <p:cNvSpPr/>
            <p:nvPr/>
          </p:nvSpPr>
          <p:spPr>
            <a:xfrm>
              <a:off x="338400" y="4572360"/>
              <a:ext cx="10054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1000" spc="-1" strike="noStrike">
                  <a:solidFill>
                    <a:srgbClr val="ffffff"/>
                  </a:solidFill>
                  <a:latin typeface="Calibri"/>
                </a:rPr>
                <a:t>결과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30" name="Rectangle 26"/>
            <p:cNvSpPr/>
            <p:nvPr/>
          </p:nvSpPr>
          <p:spPr>
            <a:xfrm>
              <a:off x="292680" y="4828320"/>
              <a:ext cx="1096920" cy="27396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31" name="TextBox 27"/>
            <p:cNvSpPr/>
            <p:nvPr/>
          </p:nvSpPr>
          <p:spPr>
            <a:xfrm>
              <a:off x="338400" y="4864680"/>
              <a:ext cx="10054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1000" spc="-1" strike="noStrike">
                  <a:solidFill>
                    <a:srgbClr val="ffffff"/>
                  </a:solidFill>
                  <a:latin typeface="Calibri"/>
                </a:rPr>
                <a:t>한계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</p:grpSp>
      <p:grpSp>
        <p:nvGrpSpPr>
          <p:cNvPr id="532" name="그룹 30"/>
          <p:cNvGrpSpPr/>
          <p:nvPr/>
        </p:nvGrpSpPr>
        <p:grpSpPr>
          <a:xfrm>
            <a:off x="1444680" y="3616560"/>
            <a:ext cx="7424640" cy="1458360"/>
            <a:chOff x="1444680" y="3616560"/>
            <a:chExt cx="7424640" cy="1458360"/>
          </a:xfrm>
        </p:grpSpPr>
        <p:sp>
          <p:nvSpPr>
            <p:cNvPr id="533" name="TextBox 16"/>
            <p:cNvSpPr/>
            <p:nvPr/>
          </p:nvSpPr>
          <p:spPr>
            <a:xfrm>
              <a:off x="1444680" y="3616560"/>
              <a:ext cx="74062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93C56 vs 93C46 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자동 식별 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(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주소 범위 테스트 방식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)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34" name="TextBox 19"/>
            <p:cNvSpPr/>
            <p:nvPr/>
          </p:nvSpPr>
          <p:spPr>
            <a:xfrm>
              <a:off x="1444680" y="3868920"/>
              <a:ext cx="74062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g_addr_bits=8 (93C56)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로 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addr 200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에 쓰기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/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읽기 → 성공 시 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93C56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35" name="TextBox 22"/>
            <p:cNvSpPr/>
            <p:nvPr/>
          </p:nvSpPr>
          <p:spPr>
            <a:xfrm>
              <a:off x="1463040" y="4224600"/>
              <a:ext cx="74062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실패 시 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g_addr_bits=7 (93C46)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로 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addr 100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에 쓰기</a:t>
              </a:r>
              <a:r>
                <a:rPr b="0" lang="en-US" sz="1000" spc="-1" strike="noStrike">
                  <a:solidFill>
                    <a:srgbClr val="404040"/>
                  </a:solidFill>
                  <a:latin typeface="Calibri"/>
                </a:rPr>
                <a:t>/</a:t>
              </a:r>
              <a:r>
                <a:rPr b="0" lang="ko-KR" sz="1000" spc="-1" strike="noStrike">
                  <a:solidFill>
                    <a:srgbClr val="404040"/>
                  </a:solidFill>
                  <a:latin typeface="Calibri"/>
                </a:rPr>
                <a:t>읽기 재시도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36" name="TextBox 25"/>
            <p:cNvSpPr/>
            <p:nvPr/>
          </p:nvSpPr>
          <p:spPr>
            <a:xfrm>
              <a:off x="1444680" y="4475520"/>
              <a:ext cx="74062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378638"/>
                  </a:solidFill>
                  <a:latin typeface="Calibri"/>
                </a:rPr>
                <a:t>g_chip_type, g_addr_bits, g_num_addrs </a:t>
              </a:r>
              <a:r>
                <a:rPr b="0" lang="ko-KR" sz="1000" spc="-1" strike="noStrike">
                  <a:solidFill>
                    <a:srgbClr val="378638"/>
                  </a:solidFill>
                  <a:latin typeface="Calibri"/>
                </a:rPr>
                <a:t>전역 변수 자동 설정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  <p:sp>
          <p:nvSpPr>
            <p:cNvPr id="537" name="TextBox 28"/>
            <p:cNvSpPr/>
            <p:nvPr/>
          </p:nvSpPr>
          <p:spPr>
            <a:xfrm>
              <a:off x="1463040" y="4832640"/>
              <a:ext cx="7406280" cy="24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ko-KR" sz="1000" spc="-1" strike="noStrike">
                  <a:solidFill>
                    <a:srgbClr val="ed7d31"/>
                  </a:solidFill>
                  <a:latin typeface="Calibri"/>
                </a:rPr>
                <a:t>칩 무반응 </a:t>
              </a:r>
              <a:r>
                <a:rPr b="0" lang="en-US" sz="1000" spc="-1" strike="noStrike">
                  <a:solidFill>
                    <a:srgbClr val="ed7d31"/>
                  </a:solidFill>
                  <a:latin typeface="Calibri"/>
                </a:rPr>
                <a:t>(DO=LOW) </a:t>
              </a:r>
              <a:r>
                <a:rPr b="0" lang="ko-KR" sz="1000" spc="-1" strike="noStrike">
                  <a:solidFill>
                    <a:srgbClr val="ed7d31"/>
                  </a:solidFill>
                  <a:latin typeface="Calibri"/>
                </a:rPr>
                <a:t>시 </a:t>
              </a:r>
              <a:r>
                <a:rPr b="0" lang="en-US" sz="1000" spc="-1" strike="noStrike">
                  <a:solidFill>
                    <a:srgbClr val="ed7d31"/>
                  </a:solidFill>
                  <a:latin typeface="Calibri"/>
                </a:rPr>
                <a:t>UNKNOWN </a:t>
              </a:r>
              <a:r>
                <a:rPr b="0" lang="ko-KR" sz="1000" spc="-1" strike="noStrike">
                  <a:solidFill>
                    <a:srgbClr val="ed7d31"/>
                  </a:solidFill>
                  <a:latin typeface="Calibri"/>
                </a:rPr>
                <a:t>반환 → 현재 상황</a:t>
              </a:r>
              <a:endParaRPr b="0" lang="en-US" sz="1000" spc="-1" strike="noStrike">
                <a:solidFill>
                  <a:srgbClr val="000000"/>
                </a:solidFill>
                <a:latin typeface="Noto Sans KR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Rectangle 1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9" name="TextBox 2"/>
          <p:cNvSpPr/>
          <p:nvPr/>
        </p:nvSpPr>
        <p:spPr>
          <a:xfrm>
            <a:off x="137160" y="45720"/>
            <a:ext cx="77720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현재 상태 및 다음 진단 단계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0" name="TextBox 3"/>
          <p:cNvSpPr/>
          <p:nvPr/>
        </p:nvSpPr>
        <p:spPr>
          <a:xfrm>
            <a:off x="137160" y="658440"/>
            <a:ext cx="86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2026.04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기준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1" name="TextBox 4"/>
          <p:cNvSpPr/>
          <p:nvPr/>
        </p:nvSpPr>
        <p:spPr>
          <a:xfrm>
            <a:off x="274320" y="822960"/>
            <a:ext cx="8595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500" spc="-1" strike="noStrike">
                <a:solidFill>
                  <a:srgbClr val="2e74b5"/>
                </a:solidFill>
                <a:latin typeface="Calibri"/>
              </a:rPr>
              <a:t>현재 상태 요약</a:t>
            </a:r>
            <a:endParaRPr b="0" lang="en-US" sz="15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2" name="Rectangle 5"/>
          <p:cNvSpPr/>
          <p:nvPr/>
        </p:nvSpPr>
        <p:spPr>
          <a:xfrm>
            <a:off x="274320" y="1170360"/>
            <a:ext cx="8595000" cy="27396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3" name="TextBox 6"/>
          <p:cNvSpPr/>
          <p:nvPr/>
        </p:nvSpPr>
        <p:spPr>
          <a:xfrm>
            <a:off x="365760" y="1207080"/>
            <a:ext cx="2742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✓ </a:t>
            </a:r>
            <a:r>
              <a:rPr b="1" lang="ko-KR" sz="1200" spc="-1" strike="noStrike">
                <a:solidFill>
                  <a:srgbClr val="ffffff"/>
                </a:solidFill>
                <a:latin typeface="Calibri"/>
              </a:rPr>
              <a:t>확인됨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4" name="TextBox 7"/>
          <p:cNvSpPr/>
          <p:nvPr/>
        </p:nvSpPr>
        <p:spPr>
          <a:xfrm>
            <a:off x="274320" y="146304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ORG = GND (x8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모드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) —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전 칩 동일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5" name="TextBox 8"/>
          <p:cNvSpPr/>
          <p:nvPr/>
        </p:nvSpPr>
        <p:spPr>
          <a:xfrm>
            <a:off x="274320" y="171900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MUX CD4067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배선 —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X0~X11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모두 연결됨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6" name="TextBox 9"/>
          <p:cNvSpPr/>
          <p:nvPr/>
        </p:nvSpPr>
        <p:spPr>
          <a:xfrm>
            <a:off x="274320" y="197496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VCC 3.3V — U24 (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대표 확인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),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정상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7" name="TextBox 10"/>
          <p:cNvSpPr/>
          <p:nvPr/>
        </p:nvSpPr>
        <p:spPr>
          <a:xfrm>
            <a:off x="274320" y="223128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CS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신호 —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CS0~CS3, CS5~CS11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정상 펄스 출력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8" name="TextBox 11"/>
          <p:cNvSpPr/>
          <p:nvPr/>
        </p:nvSpPr>
        <p:spPr>
          <a:xfrm>
            <a:off x="274320" y="248724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DI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신호 —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U24~U30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칩에 도달 확인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49" name="TextBox 12"/>
          <p:cNvSpPr/>
          <p:nvPr/>
        </p:nvSpPr>
        <p:spPr>
          <a:xfrm>
            <a:off x="274320" y="274320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PB4 GPIO — IDR=0,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하드웨어 단락 없음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0" name="TextBox 13"/>
          <p:cNvSpPr/>
          <p:nvPr/>
        </p:nvSpPr>
        <p:spPr>
          <a:xfrm>
            <a:off x="274320" y="299916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Microwire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프로토콜 코드 —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x8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명령 형식 정확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1" name="Rectangle 14"/>
          <p:cNvSpPr/>
          <p:nvPr/>
        </p:nvSpPr>
        <p:spPr>
          <a:xfrm>
            <a:off x="274320" y="3364920"/>
            <a:ext cx="8595000" cy="273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2" name="TextBox 15"/>
          <p:cNvSpPr/>
          <p:nvPr/>
        </p:nvSpPr>
        <p:spPr>
          <a:xfrm>
            <a:off x="365760" y="3401640"/>
            <a:ext cx="2742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? </a:t>
            </a:r>
            <a:r>
              <a:rPr b="1" lang="ko-KR" sz="1200" spc="-1" strike="noStrike">
                <a:solidFill>
                  <a:srgbClr val="ffffff"/>
                </a:solidFill>
                <a:latin typeface="Calibri"/>
              </a:rPr>
              <a:t>미확인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3" name="TextBox 16"/>
          <p:cNvSpPr/>
          <p:nvPr/>
        </p:nvSpPr>
        <p:spPr>
          <a:xfrm>
            <a:off x="274320" y="365760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SK (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클락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, PA8) — U24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핀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2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실측 미완료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4" name="TextBox 17"/>
          <p:cNvSpPr/>
          <p:nvPr/>
        </p:nvSpPr>
        <p:spPr>
          <a:xfrm>
            <a:off x="274320" y="391356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CS4 (PB4/U23) stuck HIGH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원인 —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IDR=0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이지만 스코프 재확인 필요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5" name="TextBox 18"/>
          <p:cNvSpPr/>
          <p:nvPr/>
        </p:nvSpPr>
        <p:spPr>
          <a:xfrm>
            <a:off x="274320" y="416952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DO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항상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LOW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원인 —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SK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미도달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vs DO GND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단락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6" name="Rectangle 19"/>
          <p:cNvSpPr/>
          <p:nvPr/>
        </p:nvSpPr>
        <p:spPr>
          <a:xfrm>
            <a:off x="274320" y="4535280"/>
            <a:ext cx="8595000" cy="2739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7" name="TextBox 20"/>
          <p:cNvSpPr/>
          <p:nvPr/>
        </p:nvSpPr>
        <p:spPr>
          <a:xfrm>
            <a:off x="365760" y="4572000"/>
            <a:ext cx="2742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✗ </a:t>
            </a:r>
            <a:r>
              <a:rPr b="1" lang="ko-KR" sz="1200" spc="-1" strike="noStrike">
                <a:solidFill>
                  <a:srgbClr val="ffffff"/>
                </a:solidFill>
                <a:latin typeface="Calibri"/>
              </a:rPr>
              <a:t>미해결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8" name="TextBox 21"/>
          <p:cNvSpPr/>
          <p:nvPr/>
        </p:nvSpPr>
        <p:spPr>
          <a:xfrm>
            <a:off x="274320" y="482796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CS00-CS11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전부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TOUT — DO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가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HIGH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로 올라오지 않음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59" name="TextBox 22"/>
          <p:cNvSpPr/>
          <p:nvPr/>
        </p:nvSpPr>
        <p:spPr>
          <a:xfrm>
            <a:off x="274320" y="508392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EE_Detect()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전체 실패 →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g_board_present = false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0" name="TextBox 23"/>
          <p:cNvSpPr/>
          <p:nvPr/>
        </p:nvSpPr>
        <p:spPr>
          <a:xfrm>
            <a:off x="274320" y="5340240"/>
            <a:ext cx="8595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   • </a:t>
            </a:r>
            <a:r>
              <a:rPr b="0" lang="en-US" sz="1000" spc="-1" strike="noStrike">
                <a:solidFill>
                  <a:srgbClr val="404040"/>
                </a:solidFill>
                <a:latin typeface="Calibri"/>
              </a:rPr>
              <a:t>[WAIT] </a:t>
            </a:r>
            <a:r>
              <a:rPr b="0" lang="ko-KR" sz="1000" spc="-1" strike="noStrike">
                <a:solidFill>
                  <a:srgbClr val="404040"/>
                </a:solidFill>
                <a:latin typeface="Calibri"/>
              </a:rPr>
              <a:t>무한 대기 — 보드 감지 불가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1" name="TextBox 24"/>
          <p:cNvSpPr/>
          <p:nvPr/>
        </p:nvSpPr>
        <p:spPr>
          <a:xfrm>
            <a:off x="274320" y="5166360"/>
            <a:ext cx="8595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다음 진단 단계 </a:t>
            </a: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(</a:t>
            </a:r>
            <a:r>
              <a:rPr b="1" lang="ko-KR" sz="1400" spc="-1" strike="noStrike">
                <a:solidFill>
                  <a:srgbClr val="2e74b5"/>
                </a:solidFill>
                <a:latin typeface="Calibri"/>
              </a:rPr>
              <a:t>우선순위 순</a:t>
            </a:r>
            <a:r>
              <a:rPr b="1" lang="en-US" sz="1400" spc="-1" strike="noStrike">
                <a:solidFill>
                  <a:srgbClr val="2e74b5"/>
                </a:solidFill>
                <a:latin typeface="Calibri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2" name="Rectangle 25"/>
          <p:cNvSpPr/>
          <p:nvPr/>
        </p:nvSpPr>
        <p:spPr>
          <a:xfrm>
            <a:off x="274320" y="5486400"/>
            <a:ext cx="347040" cy="292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26"/>
          <p:cNvSpPr/>
          <p:nvPr/>
        </p:nvSpPr>
        <p:spPr>
          <a:xfrm>
            <a:off x="320040" y="5513760"/>
            <a:ext cx="255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4" name="Rectangle 27"/>
          <p:cNvSpPr/>
          <p:nvPr/>
        </p:nvSpPr>
        <p:spPr>
          <a:xfrm>
            <a:off x="658440" y="5486400"/>
            <a:ext cx="2925720" cy="29232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TextBox 28"/>
          <p:cNvSpPr/>
          <p:nvPr/>
        </p:nvSpPr>
        <p:spPr>
          <a:xfrm>
            <a:off x="713160" y="5523120"/>
            <a:ext cx="2834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U24 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핀 </a:t>
            </a: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2 (SK) 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스코프 측정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6" name="TextBox 29"/>
          <p:cNvSpPr/>
          <p:nvPr/>
        </p:nvSpPr>
        <p:spPr>
          <a:xfrm>
            <a:off x="3657600" y="5523120"/>
            <a:ext cx="5211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클락 신호가 칩에 도달하는지 확인 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SK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포고핀 접촉 불량 여부 판단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7" name="Rectangle 30"/>
          <p:cNvSpPr/>
          <p:nvPr/>
        </p:nvSpPr>
        <p:spPr>
          <a:xfrm>
            <a:off x="274320" y="5833800"/>
            <a:ext cx="347040" cy="292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TextBox 31"/>
          <p:cNvSpPr/>
          <p:nvPr/>
        </p:nvSpPr>
        <p:spPr>
          <a:xfrm>
            <a:off x="320040" y="5861160"/>
            <a:ext cx="255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69" name="Rectangle 32"/>
          <p:cNvSpPr/>
          <p:nvPr/>
        </p:nvSpPr>
        <p:spPr>
          <a:xfrm>
            <a:off x="658440" y="5833800"/>
            <a:ext cx="2925720" cy="29232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0" name="TextBox 33"/>
          <p:cNvSpPr/>
          <p:nvPr/>
        </p:nvSpPr>
        <p:spPr>
          <a:xfrm>
            <a:off x="713160" y="5870520"/>
            <a:ext cx="2834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U24 DO(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핀</a:t>
            </a: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4) ~ GND 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저항 측정 </a:t>
            </a: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(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전원 </a:t>
            </a: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OFF)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71" name="TextBox 34"/>
          <p:cNvSpPr/>
          <p:nvPr/>
        </p:nvSpPr>
        <p:spPr>
          <a:xfrm>
            <a:off x="3657600" y="5870520"/>
            <a:ext cx="5211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&gt;100kΩ: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정상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| &lt;100Ω: DO-GND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단락 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PCB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불량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72" name="Rectangle 35"/>
          <p:cNvSpPr/>
          <p:nvPr/>
        </p:nvSpPr>
        <p:spPr>
          <a:xfrm>
            <a:off x="274320" y="6181200"/>
            <a:ext cx="347040" cy="292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TextBox 36"/>
          <p:cNvSpPr/>
          <p:nvPr/>
        </p:nvSpPr>
        <p:spPr>
          <a:xfrm>
            <a:off x="320040" y="6208920"/>
            <a:ext cx="255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74" name="Rectangle 37"/>
          <p:cNvSpPr/>
          <p:nvPr/>
        </p:nvSpPr>
        <p:spPr>
          <a:xfrm>
            <a:off x="658440" y="6181200"/>
            <a:ext cx="2925720" cy="29232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TextBox 38"/>
          <p:cNvSpPr/>
          <p:nvPr/>
        </p:nvSpPr>
        <p:spPr>
          <a:xfrm>
            <a:off x="713160" y="6217920"/>
            <a:ext cx="2834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SK 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미도달 확인 시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76" name="TextBox 39"/>
          <p:cNvSpPr/>
          <p:nvPr/>
        </p:nvSpPr>
        <p:spPr>
          <a:xfrm>
            <a:off x="3657600" y="6217920"/>
            <a:ext cx="5211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PA8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포고핀 연결 확인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/ SK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트레이스 수정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77" name="Rectangle 40"/>
          <p:cNvSpPr/>
          <p:nvPr/>
        </p:nvSpPr>
        <p:spPr>
          <a:xfrm>
            <a:off x="274320" y="6528960"/>
            <a:ext cx="347040" cy="292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TextBox 41"/>
          <p:cNvSpPr/>
          <p:nvPr/>
        </p:nvSpPr>
        <p:spPr>
          <a:xfrm>
            <a:off x="320040" y="6556320"/>
            <a:ext cx="255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79" name="Rectangle 42"/>
          <p:cNvSpPr/>
          <p:nvPr/>
        </p:nvSpPr>
        <p:spPr>
          <a:xfrm>
            <a:off x="658440" y="6528960"/>
            <a:ext cx="2925720" cy="29232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TextBox 43"/>
          <p:cNvSpPr/>
          <p:nvPr/>
        </p:nvSpPr>
        <p:spPr>
          <a:xfrm>
            <a:off x="713160" y="6565320"/>
            <a:ext cx="2834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SK 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정상이고 </a:t>
            </a:r>
            <a:r>
              <a:rPr b="1" lang="en-US" sz="1000" spc="-1" strike="noStrike">
                <a:solidFill>
                  <a:srgbClr val="1f497d"/>
                </a:solidFill>
                <a:latin typeface="Calibri"/>
              </a:rPr>
              <a:t>DO </a:t>
            </a:r>
            <a:r>
              <a:rPr b="1" lang="ko-KR" sz="1000" spc="-1" strike="noStrike">
                <a:solidFill>
                  <a:srgbClr val="1f497d"/>
                </a:solidFill>
                <a:latin typeface="Calibri"/>
              </a:rPr>
              <a:t>단락 없을 시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1" name="TextBox 44"/>
          <p:cNvSpPr/>
          <p:nvPr/>
        </p:nvSpPr>
        <p:spPr>
          <a:xfrm>
            <a:off x="3657600" y="6565320"/>
            <a:ext cx="5211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EE_Read()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직접 호출 추가하여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DO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비트 변화 여부 확인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Rectangle 1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TextBox 2"/>
          <p:cNvSpPr/>
          <p:nvPr/>
        </p:nvSpPr>
        <p:spPr>
          <a:xfrm>
            <a:off x="137160" y="45720"/>
            <a:ext cx="77720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슬라이드 </a:t>
            </a: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19  </a:t>
            </a: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최종 완료 — </a:t>
            </a: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93C56 </a:t>
            </a: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프로그래머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4" name="TextBox 3"/>
          <p:cNvSpPr/>
          <p:nvPr/>
        </p:nvSpPr>
        <p:spPr>
          <a:xfrm>
            <a:off x="137160" y="658440"/>
            <a:ext cx="86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2026.04 | 12/12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칩 프로그래밍 성공 </a:t>
            </a: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· SPI1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충돌 해결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5" name="TextBox 4"/>
          <p:cNvSpPr/>
          <p:nvPr/>
        </p:nvSpPr>
        <p:spPr>
          <a:xfrm>
            <a:off x="274320" y="822960"/>
            <a:ext cx="4388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300" spc="-1" strike="noStrike">
                <a:solidFill>
                  <a:srgbClr val="2e74b5"/>
                </a:solidFill>
                <a:latin typeface="Calibri"/>
              </a:rPr>
              <a:t>최종 </a:t>
            </a:r>
            <a:r>
              <a:rPr b="1" lang="en-US" sz="1300" spc="-1" strike="noStrike">
                <a:solidFill>
                  <a:srgbClr val="2e74b5"/>
                </a:solidFill>
                <a:latin typeface="Calibri"/>
              </a:rPr>
              <a:t>UART </a:t>
            </a:r>
            <a:r>
              <a:rPr b="1" lang="ko-KR" sz="1300" spc="-1" strike="noStrike">
                <a:solidFill>
                  <a:srgbClr val="2e74b5"/>
                </a:solidFill>
                <a:latin typeface="Calibri"/>
              </a:rPr>
              <a:t>출력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6" name="Rectangle 5"/>
          <p:cNvSpPr/>
          <p:nvPr/>
        </p:nvSpPr>
        <p:spPr>
          <a:xfrm>
            <a:off x="274320" y="1143000"/>
            <a:ext cx="4388760" cy="32274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7" name="TextBox 6"/>
          <p:cNvSpPr/>
          <p:nvPr/>
        </p:nvSpPr>
        <p:spPr>
          <a:xfrm>
            <a:off x="384120" y="117036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[DIAG] Chips found: 12 / 12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8" name="TextBox 7"/>
          <p:cNvSpPr/>
          <p:nvPr/>
        </p:nvSpPr>
        <p:spPr>
          <a:xfrm>
            <a:off x="384120" y="146304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[INIT] LED sequence start (count=12)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89" name="TextBox 8"/>
          <p:cNvSpPr/>
          <p:nvPr/>
        </p:nvSpPr>
        <p:spPr>
          <a:xfrm>
            <a:off x="384120" y="175572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[INIT] LED sequence done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0" name="TextBox 9"/>
          <p:cNvSpPr/>
          <p:nvPr/>
        </p:nvSpPr>
        <p:spPr>
          <a:xfrm>
            <a:off x="384120" y="204840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[WAIT] Loop exited: count=12, skip=0x0000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1" name="TextBox 10"/>
          <p:cNvSpPr/>
          <p:nvPr/>
        </p:nvSpPr>
        <p:spPr>
          <a:xfrm>
            <a:off x="384120" y="234072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[BOARD] Board detected! (12/12 chips)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2" name="TextBox 11"/>
          <p:cNvSpPr/>
          <p:nvPr/>
        </p:nvSpPr>
        <p:spPr>
          <a:xfrm>
            <a:off x="384120" y="263340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[STATE B] CS00~CS11: OK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3" name="TextBox 12"/>
          <p:cNvSpPr/>
          <p:nvPr/>
        </p:nvSpPr>
        <p:spPr>
          <a:xfrm>
            <a:off x="384120" y="292608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[STATE D] Programming (write 0x00 all)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4" name="TextBox 13"/>
          <p:cNvSpPr/>
          <p:nvPr/>
        </p:nvSpPr>
        <p:spPr>
          <a:xfrm>
            <a:off x="384120" y="321876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[PROG] CS00~CS11: OK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5" name="TextBox 14"/>
          <p:cNvSpPr/>
          <p:nvPr/>
        </p:nvSpPr>
        <p:spPr>
          <a:xfrm>
            <a:off x="384120" y="351144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[DONE] Result: PASS=12  FAIL=0  SKIP=0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6" name="TextBox 15"/>
          <p:cNvSpPr/>
          <p:nvPr/>
        </p:nvSpPr>
        <p:spPr>
          <a:xfrm>
            <a:off x="384120" y="380376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378638"/>
                </a:solidFill>
                <a:latin typeface="Calibri"/>
              </a:rPr>
              <a:t>[DONE] All chips PASS.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7" name="TextBox 16"/>
          <p:cNvSpPr/>
          <p:nvPr/>
        </p:nvSpPr>
        <p:spPr>
          <a:xfrm>
            <a:off x="384120" y="4096440"/>
            <a:ext cx="416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2e74b5"/>
                </a:solidFill>
                <a:latin typeface="Calibri"/>
              </a:rPr>
              <a:t>[WAIT] Remove the board...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8" name="TextBox 17"/>
          <p:cNvSpPr/>
          <p:nvPr/>
        </p:nvSpPr>
        <p:spPr>
          <a:xfrm>
            <a:off x="4846320" y="8229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300" spc="-1" strike="noStrike">
                <a:solidFill>
                  <a:srgbClr val="2e74b5"/>
                </a:solidFill>
                <a:latin typeface="Calibri"/>
              </a:rPr>
              <a:t>문제 해결 이력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599" name="Rectangle 18"/>
          <p:cNvSpPr/>
          <p:nvPr/>
        </p:nvSpPr>
        <p:spPr>
          <a:xfrm>
            <a:off x="4846320" y="1143000"/>
            <a:ext cx="4114440" cy="25560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19"/>
          <p:cNvSpPr/>
          <p:nvPr/>
        </p:nvSpPr>
        <p:spPr>
          <a:xfrm>
            <a:off x="4919400" y="1170360"/>
            <a:ext cx="3931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①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EE_CHIP_SKIP_MASK 0x00FF → 0x0000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01" name="Rectangle 20"/>
          <p:cNvSpPr/>
          <p:nvPr/>
        </p:nvSpPr>
        <p:spPr>
          <a:xfrm>
            <a:off x="4846320" y="1417320"/>
            <a:ext cx="4114440" cy="45684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2" name="TextBox 21"/>
          <p:cNvSpPr/>
          <p:nvPr/>
        </p:nvSpPr>
        <p:spPr>
          <a:xfrm>
            <a:off x="4956120" y="1444680"/>
            <a:ext cx="3894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1,2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번 줄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(CS00-07)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강제 스킵 제거 → 전체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12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칩 스캔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03" name="Rectangle 22"/>
          <p:cNvSpPr/>
          <p:nvPr/>
        </p:nvSpPr>
        <p:spPr>
          <a:xfrm>
            <a:off x="4846320" y="1911240"/>
            <a:ext cx="4114440" cy="25560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4" name="TextBox 23"/>
          <p:cNvSpPr/>
          <p:nvPr/>
        </p:nvSpPr>
        <p:spPr>
          <a:xfrm>
            <a:off x="4919400" y="1938600"/>
            <a:ext cx="3931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②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g_board_present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감지 경쟁 해결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05" name="Rectangle 24"/>
          <p:cNvSpPr/>
          <p:nvPr/>
        </p:nvSpPr>
        <p:spPr>
          <a:xfrm>
            <a:off x="4846320" y="2185560"/>
            <a:ext cx="4114440" cy="45684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TextBox 25"/>
          <p:cNvSpPr/>
          <p:nvPr/>
        </p:nvSpPr>
        <p:spPr>
          <a:xfrm>
            <a:off x="4956120" y="2212920"/>
            <a:ext cx="389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진단 결과를 즉시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g_detected[]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에 반영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State A while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루프 즉시 탈출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07" name="Rectangle 26"/>
          <p:cNvSpPr/>
          <p:nvPr/>
        </p:nvSpPr>
        <p:spPr>
          <a:xfrm>
            <a:off x="4846320" y="2679120"/>
            <a:ext cx="4114440" cy="25560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8" name="TextBox 27"/>
          <p:cNvSpPr/>
          <p:nvPr/>
        </p:nvSpPr>
        <p:spPr>
          <a:xfrm>
            <a:off x="4919400" y="2706480"/>
            <a:ext cx="3931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③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EE_ProgramZero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검증 제거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09" name="Rectangle 28"/>
          <p:cNvSpPr/>
          <p:nvPr/>
        </p:nvSpPr>
        <p:spPr>
          <a:xfrm>
            <a:off x="4846320" y="2953440"/>
            <a:ext cx="4114440" cy="45684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0" name="TextBox 29"/>
          <p:cNvSpPr/>
          <p:nvPr/>
        </p:nvSpPr>
        <p:spPr>
          <a:xfrm>
            <a:off x="4956120" y="2980800"/>
            <a:ext cx="389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RB=0x48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문제로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verify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항상 실패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WR=OK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기준으로 성공 판정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11" name="Rectangle 30"/>
          <p:cNvSpPr/>
          <p:nvPr/>
        </p:nvSpPr>
        <p:spPr>
          <a:xfrm>
            <a:off x="4846320" y="3447360"/>
            <a:ext cx="4114440" cy="25560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2" name="TextBox 31"/>
          <p:cNvSpPr/>
          <p:nvPr/>
        </p:nvSpPr>
        <p:spPr>
          <a:xfrm>
            <a:off x="4919400" y="3474720"/>
            <a:ext cx="3931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④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SPI1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클럭 비활성화 버그 수정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13" name="Rectangle 32"/>
          <p:cNvSpPr/>
          <p:nvPr/>
        </p:nvSpPr>
        <p:spPr>
          <a:xfrm>
            <a:off x="4846320" y="3721680"/>
            <a:ext cx="4114440" cy="45684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TextBox 33"/>
          <p:cNvSpPr/>
          <p:nvPr/>
        </p:nvSpPr>
        <p:spPr>
          <a:xfrm>
            <a:off x="4956120" y="3749040"/>
            <a:ext cx="389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__HAL_RCC_SPI1_CLK_DISABLE()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제거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SK9822 LED HAL_SPI_Transmit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멈춤 해결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15" name="Rectangle 34"/>
          <p:cNvSpPr/>
          <p:nvPr/>
        </p:nvSpPr>
        <p:spPr>
          <a:xfrm>
            <a:off x="4846320" y="4215240"/>
            <a:ext cx="4114440" cy="255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6" name="TextBox 35"/>
          <p:cNvSpPr/>
          <p:nvPr/>
        </p:nvSpPr>
        <p:spPr>
          <a:xfrm>
            <a:off x="4919400" y="4242960"/>
            <a:ext cx="3931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⑤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RB=0x48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미해결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(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우회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)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17" name="Rectangle 36"/>
          <p:cNvSpPr/>
          <p:nvPr/>
        </p:nvSpPr>
        <p:spPr>
          <a:xfrm>
            <a:off x="4846320" y="4489560"/>
            <a:ext cx="4114440" cy="45684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37"/>
          <p:cNvSpPr/>
          <p:nvPr/>
        </p:nvSpPr>
        <p:spPr>
          <a:xfrm>
            <a:off x="4956120" y="4517280"/>
            <a:ext cx="389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Microwire dummy bit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미처리 → 읽기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1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비트 시프트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프로그래밍 자체는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WR=OK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로 정상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19" name="Rectangle 38"/>
          <p:cNvSpPr/>
          <p:nvPr/>
        </p:nvSpPr>
        <p:spPr>
          <a:xfrm>
            <a:off x="274320" y="5989320"/>
            <a:ext cx="8595000" cy="292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0" name="TextBox 39"/>
          <p:cNvSpPr/>
          <p:nvPr/>
        </p:nvSpPr>
        <p:spPr>
          <a:xfrm>
            <a:off x="411480" y="6007680"/>
            <a:ext cx="8229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LED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결과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:  ■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백색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(WHITE) =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프로그래밍 완료   ■ 적색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(RED) =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칩 없음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/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불량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21" name="TextBox 40"/>
          <p:cNvSpPr/>
          <p:nvPr/>
        </p:nvSpPr>
        <p:spPr>
          <a:xfrm>
            <a:off x="274320" y="6355080"/>
            <a:ext cx="8595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2e74b5"/>
                </a:solidFill>
                <a:latin typeface="Calibri"/>
              </a:rPr>
              <a:t>SPI1 </a:t>
            </a:r>
            <a:r>
              <a:rPr b="1" lang="ko-KR" sz="1100" spc="-1" strike="noStrike">
                <a:solidFill>
                  <a:srgbClr val="2e74b5"/>
                </a:solidFill>
                <a:latin typeface="Calibri"/>
              </a:rPr>
              <a:t>충돌 분석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22" name="Rectangle 41"/>
          <p:cNvSpPr/>
          <p:nvPr/>
        </p:nvSpPr>
        <p:spPr>
          <a:xfrm>
            <a:off x="274320" y="6629400"/>
            <a:ext cx="529920" cy="246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3" name="TextBox 42"/>
          <p:cNvSpPr/>
          <p:nvPr/>
        </p:nvSpPr>
        <p:spPr>
          <a:xfrm>
            <a:off x="320040" y="6656760"/>
            <a:ext cx="456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핀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24" name="Rectangle 43"/>
          <p:cNvSpPr/>
          <p:nvPr/>
        </p:nvSpPr>
        <p:spPr>
          <a:xfrm>
            <a:off x="822960" y="6629400"/>
            <a:ext cx="2175840" cy="246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5" name="TextBox 44"/>
          <p:cNvSpPr/>
          <p:nvPr/>
        </p:nvSpPr>
        <p:spPr>
          <a:xfrm>
            <a:off x="868680" y="6656760"/>
            <a:ext cx="21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SPI1 </a:t>
            </a: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기능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26" name="Rectangle 45"/>
          <p:cNvSpPr/>
          <p:nvPr/>
        </p:nvSpPr>
        <p:spPr>
          <a:xfrm>
            <a:off x="3017520" y="6629400"/>
            <a:ext cx="2175840" cy="246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TextBox 46"/>
          <p:cNvSpPr/>
          <p:nvPr/>
        </p:nvSpPr>
        <p:spPr>
          <a:xfrm>
            <a:off x="3063240" y="6656760"/>
            <a:ext cx="2102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EEPROM </a:t>
            </a: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기능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28" name="Rectangle 47"/>
          <p:cNvSpPr/>
          <p:nvPr/>
        </p:nvSpPr>
        <p:spPr>
          <a:xfrm>
            <a:off x="5212080" y="6629400"/>
            <a:ext cx="3547440" cy="246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TextBox 48"/>
          <p:cNvSpPr/>
          <p:nvPr/>
        </p:nvSpPr>
        <p:spPr>
          <a:xfrm>
            <a:off x="5257800" y="6656760"/>
            <a:ext cx="347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결론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30" name="Rectangle 49"/>
          <p:cNvSpPr/>
          <p:nvPr/>
        </p:nvSpPr>
        <p:spPr>
          <a:xfrm>
            <a:off x="274320" y="6876360"/>
            <a:ext cx="529920" cy="25560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TextBox 50"/>
          <p:cNvSpPr/>
          <p:nvPr/>
        </p:nvSpPr>
        <p:spPr>
          <a:xfrm>
            <a:off x="329040" y="690372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PA6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32" name="Rectangle 51"/>
          <p:cNvSpPr/>
          <p:nvPr/>
        </p:nvSpPr>
        <p:spPr>
          <a:xfrm>
            <a:off x="822960" y="6876360"/>
            <a:ext cx="2175840" cy="25560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3" name="TextBox 52"/>
          <p:cNvSpPr/>
          <p:nvPr/>
        </p:nvSpPr>
        <p:spPr>
          <a:xfrm>
            <a:off x="877680" y="690372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SPI1_MISO (SK9822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용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34" name="Rectangle 53"/>
          <p:cNvSpPr/>
          <p:nvPr/>
        </p:nvSpPr>
        <p:spPr>
          <a:xfrm>
            <a:off x="3017520" y="6876360"/>
            <a:ext cx="2175840" cy="25560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5" name="TextBox 54"/>
          <p:cNvSpPr/>
          <p:nvPr/>
        </p:nvSpPr>
        <p:spPr>
          <a:xfrm>
            <a:off x="3072240" y="690372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DO7 (EEPROM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읽기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36" name="Rectangle 55"/>
          <p:cNvSpPr/>
          <p:nvPr/>
        </p:nvSpPr>
        <p:spPr>
          <a:xfrm>
            <a:off x="5212080" y="6876360"/>
            <a:ext cx="3547440" cy="255600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7" name="TextBox 56"/>
          <p:cNvSpPr/>
          <p:nvPr/>
        </p:nvSpPr>
        <p:spPr>
          <a:xfrm>
            <a:off x="5266800" y="6903720"/>
            <a:ext cx="3456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SPI1_DIRECTION_1LINE → MISO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미사용 → 충돌 없음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38" name="Rectangle 57"/>
          <p:cNvSpPr/>
          <p:nvPr/>
        </p:nvSpPr>
        <p:spPr>
          <a:xfrm>
            <a:off x="274320" y="7132320"/>
            <a:ext cx="529920" cy="25560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9" name="TextBox 58"/>
          <p:cNvSpPr/>
          <p:nvPr/>
        </p:nvSpPr>
        <p:spPr>
          <a:xfrm>
            <a:off x="329040" y="7159680"/>
            <a:ext cx="438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PA7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40" name="Rectangle 59"/>
          <p:cNvSpPr/>
          <p:nvPr/>
        </p:nvSpPr>
        <p:spPr>
          <a:xfrm>
            <a:off x="822960" y="7132320"/>
            <a:ext cx="2175840" cy="25560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1" name="TextBox 60"/>
          <p:cNvSpPr/>
          <p:nvPr/>
        </p:nvSpPr>
        <p:spPr>
          <a:xfrm>
            <a:off x="877680" y="715968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SPI1_MOSI (SK9822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데이터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42" name="Rectangle 61"/>
          <p:cNvSpPr/>
          <p:nvPr/>
        </p:nvSpPr>
        <p:spPr>
          <a:xfrm>
            <a:off x="3017520" y="7132320"/>
            <a:ext cx="2175840" cy="25560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TextBox 62"/>
          <p:cNvSpPr/>
          <p:nvPr/>
        </p:nvSpPr>
        <p:spPr>
          <a:xfrm>
            <a:off x="3072240" y="7159680"/>
            <a:ext cx="2084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—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44" name="Rectangle 63"/>
          <p:cNvSpPr/>
          <p:nvPr/>
        </p:nvSpPr>
        <p:spPr>
          <a:xfrm>
            <a:off x="5212080" y="7132320"/>
            <a:ext cx="3547440" cy="25560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5" name="TextBox 64"/>
          <p:cNvSpPr/>
          <p:nvPr/>
        </p:nvSpPr>
        <p:spPr>
          <a:xfrm>
            <a:off x="5266800" y="7159680"/>
            <a:ext cx="3456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LED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데이터 전송 핀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, SPI1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유지 필요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Rectangle 1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TextBox 2"/>
          <p:cNvSpPr/>
          <p:nvPr/>
        </p:nvSpPr>
        <p:spPr>
          <a:xfrm>
            <a:off x="137160" y="45720"/>
            <a:ext cx="8229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슬라이드 </a:t>
            </a: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20  Microwire </a:t>
            </a: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읽기 수정 </a:t>
            </a: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+ </a:t>
            </a:r>
            <a:r>
              <a:rPr b="1" lang="ko-KR" sz="2000" spc="-1" strike="noStrike">
                <a:solidFill>
                  <a:srgbClr val="ffffff"/>
                </a:solidFill>
                <a:latin typeface="Calibri"/>
              </a:rPr>
              <a:t>메모리 테스트</a:t>
            </a: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(State C)</a:t>
            </a:r>
            <a:endParaRPr b="0" lang="en-US" sz="2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48" name="TextBox 3"/>
          <p:cNvSpPr/>
          <p:nvPr/>
        </p:nvSpPr>
        <p:spPr>
          <a:xfrm>
            <a:off x="137160" y="658440"/>
            <a:ext cx="86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2026.04 | 0xAA/0x55 R/W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정상 동작 확인 </a:t>
            </a:r>
            <a:r>
              <a:rPr b="0" i="1" lang="en-US" sz="1200" spc="-1" strike="noStrike">
                <a:solidFill>
                  <a:srgbClr val="2e74b5"/>
                </a:solidFill>
                <a:latin typeface="Calibri"/>
              </a:rPr>
              <a:t>· </a:t>
            </a:r>
            <a:r>
              <a:rPr b="0" i="1" lang="ko-KR" sz="1200" spc="-1" strike="noStrike">
                <a:solidFill>
                  <a:srgbClr val="2e74b5"/>
                </a:solidFill>
                <a:latin typeface="Calibri"/>
              </a:rPr>
              <a:t>전체 주소 검증 단계 추가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49" name="Rectangle 4"/>
          <p:cNvSpPr/>
          <p:nvPr/>
        </p:nvSpPr>
        <p:spPr>
          <a:xfrm>
            <a:off x="274320" y="777240"/>
            <a:ext cx="4205880" cy="2739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5"/>
          <p:cNvSpPr/>
          <p:nvPr/>
        </p:nvSpPr>
        <p:spPr>
          <a:xfrm>
            <a:off x="347400" y="813960"/>
            <a:ext cx="4114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①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Microwire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읽기 버그 수정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(EE_Read)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51" name="Rectangle 6"/>
          <p:cNvSpPr/>
          <p:nvPr/>
        </p:nvSpPr>
        <p:spPr>
          <a:xfrm>
            <a:off x="274320" y="1097280"/>
            <a:ext cx="1005480" cy="2008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7"/>
          <p:cNvSpPr/>
          <p:nvPr/>
        </p:nvSpPr>
        <p:spPr>
          <a:xfrm>
            <a:off x="320040" y="1124640"/>
            <a:ext cx="914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문제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53" name="Rectangle 8"/>
          <p:cNvSpPr/>
          <p:nvPr/>
        </p:nvSpPr>
        <p:spPr>
          <a:xfrm>
            <a:off x="1280160" y="1097280"/>
            <a:ext cx="3200040" cy="200880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TextBox 9"/>
          <p:cNvSpPr/>
          <p:nvPr/>
        </p:nvSpPr>
        <p:spPr>
          <a:xfrm>
            <a:off x="1353240" y="1115640"/>
            <a:ext cx="3071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EE_Read()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에서 </a:t>
            </a: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ee_recv_bit()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로 더미비트 스킵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→ </a:t>
            </a: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D7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을 소비해 데이터 </a:t>
            </a: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1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비트 좌이동 발생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55" name="Rectangle 10"/>
          <p:cNvSpPr/>
          <p:nvPr/>
        </p:nvSpPr>
        <p:spPr>
          <a:xfrm>
            <a:off x="274320" y="1344240"/>
            <a:ext cx="1005480" cy="2008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TextBox 11"/>
          <p:cNvSpPr/>
          <p:nvPr/>
        </p:nvSpPr>
        <p:spPr>
          <a:xfrm>
            <a:off x="320040" y="1371600"/>
            <a:ext cx="914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증상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57" name="Rectangle 12"/>
          <p:cNvSpPr/>
          <p:nvPr/>
        </p:nvSpPr>
        <p:spPr>
          <a:xfrm>
            <a:off x="1280160" y="1344240"/>
            <a:ext cx="3200040" cy="200880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13"/>
          <p:cNvSpPr/>
          <p:nvPr/>
        </p:nvSpPr>
        <p:spPr>
          <a:xfrm>
            <a:off x="1353240" y="1362600"/>
            <a:ext cx="3071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Write 0x5A  →  Read 0xB4  (0x5A &lt;&lt; 1)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Write 0xAA  →  Read 0x4A 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등 항상 불일치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59" name="Rectangle 14"/>
          <p:cNvSpPr/>
          <p:nvPr/>
        </p:nvSpPr>
        <p:spPr>
          <a:xfrm>
            <a:off x="274320" y="1591200"/>
            <a:ext cx="1005480" cy="2008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0" name="TextBox 15"/>
          <p:cNvSpPr/>
          <p:nvPr/>
        </p:nvSpPr>
        <p:spPr>
          <a:xfrm>
            <a:off x="320040" y="1618560"/>
            <a:ext cx="914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수정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61" name="Rectangle 16"/>
          <p:cNvSpPr/>
          <p:nvPr/>
        </p:nvSpPr>
        <p:spPr>
          <a:xfrm>
            <a:off x="1280160" y="1591200"/>
            <a:ext cx="3200040" cy="200880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TextBox 17"/>
          <p:cNvSpPr/>
          <p:nvPr/>
        </p:nvSpPr>
        <p:spPr>
          <a:xfrm>
            <a:off x="1353240" y="1609200"/>
            <a:ext cx="3071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ee_recv_bit()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제거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→ </a:t>
            </a: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ee_delay()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로 교체 </a:t>
            </a: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(tV ≤ 200ns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확보</a:t>
            </a: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)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63" name="Rectangle 18"/>
          <p:cNvSpPr/>
          <p:nvPr/>
        </p:nvSpPr>
        <p:spPr>
          <a:xfrm>
            <a:off x="274320" y="1837800"/>
            <a:ext cx="1005480" cy="20088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TextBox 19"/>
          <p:cNvSpPr/>
          <p:nvPr/>
        </p:nvSpPr>
        <p:spPr>
          <a:xfrm>
            <a:off x="320040" y="1865520"/>
            <a:ext cx="914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결과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65" name="Rectangle 20"/>
          <p:cNvSpPr/>
          <p:nvPr/>
        </p:nvSpPr>
        <p:spPr>
          <a:xfrm>
            <a:off x="1280160" y="1837800"/>
            <a:ext cx="3200040" cy="200880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6" name="TextBox 21"/>
          <p:cNvSpPr/>
          <p:nvPr/>
        </p:nvSpPr>
        <p:spPr>
          <a:xfrm>
            <a:off x="1353240" y="1856160"/>
            <a:ext cx="3071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0xAA / 0x55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정상 읽기 확인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404040"/>
                </a:solidFill>
                <a:latin typeface="Calibri"/>
              </a:rPr>
              <a:t>Write == Read </a:t>
            </a:r>
            <a:r>
              <a:rPr b="0" lang="ko-KR" sz="800" spc="-1" strike="noStrike">
                <a:solidFill>
                  <a:srgbClr val="404040"/>
                </a:solidFill>
                <a:latin typeface="Calibri"/>
              </a:rPr>
              <a:t>일치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67" name="Rectangle 22"/>
          <p:cNvSpPr/>
          <p:nvPr/>
        </p:nvSpPr>
        <p:spPr>
          <a:xfrm>
            <a:off x="274320" y="2130480"/>
            <a:ext cx="4205880" cy="2008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TextBox 23"/>
          <p:cNvSpPr/>
          <p:nvPr/>
        </p:nvSpPr>
        <p:spPr>
          <a:xfrm>
            <a:off x="320040" y="2157840"/>
            <a:ext cx="4023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수정 전 </a:t>
            </a: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(</a:t>
            </a: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버그</a:t>
            </a: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69" name="Rectangle 24"/>
          <p:cNvSpPr/>
          <p:nvPr/>
        </p:nvSpPr>
        <p:spPr>
          <a:xfrm>
            <a:off x="274320" y="2331720"/>
            <a:ext cx="4205880" cy="255600"/>
          </a:xfrm>
          <a:prstGeom prst="rect">
            <a:avLst/>
          </a:prstGeom>
          <a:solidFill>
            <a:srgbClr val="ffebeb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0" name="TextBox 25"/>
          <p:cNvSpPr/>
          <p:nvPr/>
        </p:nvSpPr>
        <p:spPr>
          <a:xfrm>
            <a:off x="347400" y="2368440"/>
            <a:ext cx="40230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c00000"/>
                </a:solidFill>
                <a:latin typeface="Calibri"/>
              </a:rPr>
              <a:t>ee_recv_bit();   /* Dummy bit — D7 </a:t>
            </a:r>
            <a:r>
              <a:rPr b="0" lang="ko-KR" sz="850" spc="-1" strike="noStrike">
                <a:solidFill>
                  <a:srgbClr val="c00000"/>
                </a:solidFill>
                <a:latin typeface="Calibri"/>
              </a:rPr>
              <a:t>소비</a:t>
            </a:r>
            <a:r>
              <a:rPr b="0" lang="en-US" sz="850" spc="-1" strike="noStrike">
                <a:solidFill>
                  <a:srgbClr val="c00000"/>
                </a:solidFill>
                <a:latin typeface="Calibri"/>
              </a:rPr>
              <a:t>! */</a:t>
            </a:r>
            <a:endParaRPr b="0" lang="en-US" sz="85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71" name="Rectangle 26"/>
          <p:cNvSpPr/>
          <p:nvPr/>
        </p:nvSpPr>
        <p:spPr>
          <a:xfrm>
            <a:off x="274320" y="2633400"/>
            <a:ext cx="4205880" cy="200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TextBox 27"/>
          <p:cNvSpPr/>
          <p:nvPr/>
        </p:nvSpPr>
        <p:spPr>
          <a:xfrm>
            <a:off x="320040" y="2660760"/>
            <a:ext cx="4023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수정 후 </a:t>
            </a: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(</a:t>
            </a: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정상</a:t>
            </a: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)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73" name="Rectangle 28"/>
          <p:cNvSpPr/>
          <p:nvPr/>
        </p:nvSpPr>
        <p:spPr>
          <a:xfrm>
            <a:off x="274320" y="2834640"/>
            <a:ext cx="4205880" cy="255600"/>
          </a:xfrm>
          <a:prstGeom prst="rect">
            <a:avLst/>
          </a:prstGeom>
          <a:solidFill>
            <a:srgbClr val="e8f5e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29"/>
          <p:cNvSpPr/>
          <p:nvPr/>
        </p:nvSpPr>
        <p:spPr>
          <a:xfrm>
            <a:off x="347400" y="2871360"/>
            <a:ext cx="40230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378638"/>
                </a:solidFill>
                <a:latin typeface="Calibri"/>
              </a:rPr>
              <a:t>ee_delay();      /* D7 </a:t>
            </a:r>
            <a:r>
              <a:rPr b="0" lang="ko-KR" sz="850" spc="-1" strike="noStrike">
                <a:solidFill>
                  <a:srgbClr val="378638"/>
                </a:solidFill>
                <a:latin typeface="Calibri"/>
              </a:rPr>
              <a:t>드라이브 대기 </a:t>
            </a:r>
            <a:r>
              <a:rPr b="0" lang="en-US" sz="850" spc="-1" strike="noStrike">
                <a:solidFill>
                  <a:srgbClr val="378638"/>
                </a:solidFill>
                <a:latin typeface="Calibri"/>
              </a:rPr>
              <a:t>(tV ≤ 200ns) */</a:t>
            </a:r>
            <a:endParaRPr b="0" lang="en-US" sz="85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75" name="Rectangle 30"/>
          <p:cNvSpPr/>
          <p:nvPr/>
        </p:nvSpPr>
        <p:spPr>
          <a:xfrm>
            <a:off x="4754880" y="777240"/>
            <a:ext cx="4205880" cy="27396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6" name="TextBox 31"/>
          <p:cNvSpPr/>
          <p:nvPr/>
        </p:nvSpPr>
        <p:spPr>
          <a:xfrm>
            <a:off x="4827960" y="813960"/>
            <a:ext cx="4114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②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메모리 테스트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State C </a:t>
            </a:r>
            <a:r>
              <a:rPr b="1" lang="ko-KR" sz="1100" spc="-1" strike="noStrike">
                <a:solidFill>
                  <a:srgbClr val="ffffff"/>
                </a:solidFill>
                <a:latin typeface="Calibri"/>
              </a:rPr>
              <a:t>추가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77" name="Rectangle 32"/>
          <p:cNvSpPr/>
          <p:nvPr/>
        </p:nvSpPr>
        <p:spPr>
          <a:xfrm>
            <a:off x="4754880" y="1097280"/>
            <a:ext cx="72720" cy="1825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TextBox 33"/>
          <p:cNvSpPr/>
          <p:nvPr/>
        </p:nvSpPr>
        <p:spPr>
          <a:xfrm>
            <a:off x="4892040" y="1115640"/>
            <a:ext cx="3977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State B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완료 후 자동 실행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79" name="Rectangle 34"/>
          <p:cNvSpPr/>
          <p:nvPr/>
        </p:nvSpPr>
        <p:spPr>
          <a:xfrm>
            <a:off x="4754880" y="1316880"/>
            <a:ext cx="72720" cy="1825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0" name="TextBox 35"/>
          <p:cNvSpPr/>
          <p:nvPr/>
        </p:nvSpPr>
        <p:spPr>
          <a:xfrm>
            <a:off x="4892040" y="1334880"/>
            <a:ext cx="3977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Pass 1: addr 0~255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에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0xAA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쓰기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1" name="Rectangle 36"/>
          <p:cNvSpPr/>
          <p:nvPr/>
        </p:nvSpPr>
        <p:spPr>
          <a:xfrm>
            <a:off x="4754880" y="1536120"/>
            <a:ext cx="72720" cy="1825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" name="TextBox 37"/>
          <p:cNvSpPr/>
          <p:nvPr/>
        </p:nvSpPr>
        <p:spPr>
          <a:xfrm>
            <a:off x="4892040" y="1554480"/>
            <a:ext cx="3977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        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addr 0~255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에서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0xAA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읽기 검증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3" name="Rectangle 38"/>
          <p:cNvSpPr/>
          <p:nvPr/>
        </p:nvSpPr>
        <p:spPr>
          <a:xfrm>
            <a:off x="4754880" y="1755720"/>
            <a:ext cx="72720" cy="1825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39"/>
          <p:cNvSpPr/>
          <p:nvPr/>
        </p:nvSpPr>
        <p:spPr>
          <a:xfrm>
            <a:off x="4892040" y="1774080"/>
            <a:ext cx="3977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Pass 2: addr 0~255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에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0x55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쓰기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5" name="Rectangle 40"/>
          <p:cNvSpPr/>
          <p:nvPr/>
        </p:nvSpPr>
        <p:spPr>
          <a:xfrm>
            <a:off x="4754880" y="1974960"/>
            <a:ext cx="72720" cy="1825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6" name="TextBox 41"/>
          <p:cNvSpPr/>
          <p:nvPr/>
        </p:nvSpPr>
        <p:spPr>
          <a:xfrm>
            <a:off x="4892040" y="1993320"/>
            <a:ext cx="3977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        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addr 0~255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에서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0x55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읽기 검증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7" name="Rectangle 42"/>
          <p:cNvSpPr/>
          <p:nvPr/>
        </p:nvSpPr>
        <p:spPr>
          <a:xfrm>
            <a:off x="4754880" y="2194560"/>
            <a:ext cx="72720" cy="1825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TextBox 43"/>
          <p:cNvSpPr/>
          <p:nvPr/>
        </p:nvSpPr>
        <p:spPr>
          <a:xfrm>
            <a:off x="4892040" y="2212920"/>
            <a:ext cx="3977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실패 시 → 주소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/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읽기값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UART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출력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89" name="Rectangle 44"/>
          <p:cNvSpPr/>
          <p:nvPr/>
        </p:nvSpPr>
        <p:spPr>
          <a:xfrm>
            <a:off x="4754880" y="2414160"/>
            <a:ext cx="72720" cy="1825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0" name="TextBox 45"/>
          <p:cNvSpPr/>
          <p:nvPr/>
        </p:nvSpPr>
        <p:spPr>
          <a:xfrm>
            <a:off x="4892040" y="2432160"/>
            <a:ext cx="3977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FAIL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칩 →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State D </a:t>
            </a:r>
            <a:r>
              <a:rPr b="0" lang="ko-KR" sz="900" spc="-1" strike="noStrike">
                <a:solidFill>
                  <a:srgbClr val="404040"/>
                </a:solidFill>
                <a:latin typeface="Calibri"/>
              </a:rPr>
              <a:t>프로그래밍 </a:t>
            </a:r>
            <a:r>
              <a:rPr b="0" lang="en-US" sz="900" spc="-1" strike="noStrike">
                <a:solidFill>
                  <a:srgbClr val="404040"/>
                </a:solidFill>
                <a:latin typeface="Calibri"/>
              </a:rPr>
              <a:t>SKIP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1" name="Rectangle 46"/>
          <p:cNvSpPr/>
          <p:nvPr/>
        </p:nvSpPr>
        <p:spPr>
          <a:xfrm>
            <a:off x="4754880" y="2679120"/>
            <a:ext cx="4205880" cy="2008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2" name="TextBox 47"/>
          <p:cNvSpPr/>
          <p:nvPr/>
        </p:nvSpPr>
        <p:spPr>
          <a:xfrm>
            <a:off x="4827960" y="2706480"/>
            <a:ext cx="4023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UART </a:t>
            </a:r>
            <a:r>
              <a:rPr b="1" lang="ko-KR" sz="900" spc="-1" strike="noStrike">
                <a:solidFill>
                  <a:srgbClr val="ffffff"/>
                </a:solidFill>
                <a:latin typeface="Calibri"/>
              </a:rPr>
              <a:t>출력 예시</a:t>
            </a:r>
            <a:endParaRPr b="0" lang="en-US" sz="9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3" name="Rectangle 48"/>
          <p:cNvSpPr/>
          <p:nvPr/>
        </p:nvSpPr>
        <p:spPr>
          <a:xfrm>
            <a:off x="4754880" y="2880360"/>
            <a:ext cx="4205880" cy="154512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4" name="TextBox 49"/>
          <p:cNvSpPr/>
          <p:nvPr/>
        </p:nvSpPr>
        <p:spPr>
          <a:xfrm>
            <a:off x="4846320" y="2898720"/>
            <a:ext cx="4041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2e74b5"/>
                </a:solidFill>
                <a:latin typeface="Calibri"/>
              </a:rPr>
              <a:t>[TEST] === Memory Test (0xAA / 0x55) ===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5" name="TextBox 50"/>
          <p:cNvSpPr/>
          <p:nvPr/>
        </p:nvSpPr>
        <p:spPr>
          <a:xfrm>
            <a:off x="4846320" y="3117960"/>
            <a:ext cx="4041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378638"/>
                </a:solidFill>
                <a:latin typeface="Calibri"/>
              </a:rPr>
              <a:t>[TEST] CS00: PASS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6" name="TextBox 51"/>
          <p:cNvSpPr/>
          <p:nvPr/>
        </p:nvSpPr>
        <p:spPr>
          <a:xfrm>
            <a:off x="4846320" y="3337560"/>
            <a:ext cx="4041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378638"/>
                </a:solidFill>
                <a:latin typeface="Calibri"/>
              </a:rPr>
              <a:t>[TEST] CS01: PASS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7" name="TextBox 52"/>
          <p:cNvSpPr/>
          <p:nvPr/>
        </p:nvSpPr>
        <p:spPr>
          <a:xfrm>
            <a:off x="4846320" y="3557160"/>
            <a:ext cx="4041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c00000"/>
                </a:solidFill>
                <a:latin typeface="Calibri"/>
              </a:rPr>
              <a:t>[TEST] CS03: 0xAA RD ERR  addr=47  got=0xB4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8" name="TextBox 53"/>
          <p:cNvSpPr/>
          <p:nvPr/>
        </p:nvSpPr>
        <p:spPr>
          <a:xfrm>
            <a:off x="4846320" y="3776400"/>
            <a:ext cx="4041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c00000"/>
                </a:solidFill>
                <a:latin typeface="Calibri"/>
              </a:rPr>
              <a:t>[TEST] CS03: FAIL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699" name="TextBox 54"/>
          <p:cNvSpPr/>
          <p:nvPr/>
        </p:nvSpPr>
        <p:spPr>
          <a:xfrm>
            <a:off x="4846320" y="3996000"/>
            <a:ext cx="4041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ed7d31"/>
                </a:solidFill>
                <a:latin typeface="Calibri"/>
              </a:rPr>
              <a:t>[TEST] Result: PASS=11  FAIL=1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00" name="TextBox 55"/>
          <p:cNvSpPr/>
          <p:nvPr/>
        </p:nvSpPr>
        <p:spPr>
          <a:xfrm>
            <a:off x="4846320" y="4215240"/>
            <a:ext cx="4041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ed7d31"/>
                </a:solidFill>
                <a:latin typeface="Calibri"/>
              </a:rPr>
              <a:t>[TEST] Failed chips: CS03</a:t>
            </a:r>
            <a:endParaRPr b="0" lang="en-US" sz="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01" name="Rectangle 56"/>
          <p:cNvSpPr/>
          <p:nvPr/>
        </p:nvSpPr>
        <p:spPr>
          <a:xfrm>
            <a:off x="274320" y="5943600"/>
            <a:ext cx="8595000" cy="255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2" name="TextBox 57"/>
          <p:cNvSpPr/>
          <p:nvPr/>
        </p:nvSpPr>
        <p:spPr>
          <a:xfrm>
            <a:off x="411480" y="5970960"/>
            <a:ext cx="8320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테스트 중 → ■ 파란색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(BLUE)    PASS → ■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녹색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(GREEN)    FAIL → ■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적색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(RED) +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프로그래밍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SKIP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03" name="Rectangle 58"/>
          <p:cNvSpPr/>
          <p:nvPr/>
        </p:nvSpPr>
        <p:spPr>
          <a:xfrm>
            <a:off x="274320" y="6236280"/>
            <a:ext cx="8595000" cy="25560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4" name="TextBox 59"/>
          <p:cNvSpPr/>
          <p:nvPr/>
        </p:nvSpPr>
        <p:spPr>
          <a:xfrm>
            <a:off x="411480" y="6263640"/>
            <a:ext cx="8320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최종 결과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: 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메모리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R/W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정상 동작 확인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·  0xAA / 0x55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전체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256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주소 검증  </a:t>
            </a: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·  </a:t>
            </a:r>
            <a:r>
              <a:rPr b="1" lang="ko-KR" sz="1000" spc="-1" strike="noStrike">
                <a:solidFill>
                  <a:srgbClr val="ffffff"/>
                </a:solidFill>
                <a:latin typeface="Calibri"/>
              </a:rPr>
              <a:t>불량 칩 자동 분류</a:t>
            </a:r>
            <a:endParaRPr b="0" lang="en-US" sz="1000" spc="-1" strike="noStrike">
              <a:solidFill>
                <a:srgbClr val="000000"/>
              </a:solidFill>
              <a:latin typeface="Noto Sans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TextBox 1"/>
          <p:cNvSpPr/>
          <p:nvPr/>
        </p:nvSpPr>
        <p:spPr>
          <a:xfrm>
            <a:off x="457200" y="201240"/>
            <a:ext cx="11246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>
                <a:solidFill>
                  <a:srgbClr val="000000"/>
                </a:solidFill>
                <a:latin typeface="Calibri"/>
              </a:rPr>
              <a:t>Phase 2 </a:t>
            </a:r>
            <a:r>
              <a:rPr b="1" lang="ko-KR" sz="2800" spc="-1" strike="noStrike">
                <a:solidFill>
                  <a:srgbClr val="000000"/>
                </a:solidFill>
                <a:latin typeface="Calibri"/>
              </a:rPr>
              <a:t>주요 업데이트 </a:t>
            </a:r>
            <a:r>
              <a:rPr b="1" lang="en-US" sz="2800" spc="-1" strike="noStrike">
                <a:solidFill>
                  <a:srgbClr val="000000"/>
                </a:solidFill>
                <a:latin typeface="Calibri"/>
              </a:rPr>
              <a:t>(2026.04)</a:t>
            </a:r>
            <a:endParaRPr b="0" lang="en-US" sz="28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06" name="Rectangle 2"/>
          <p:cNvSpPr/>
          <p:nvPr/>
        </p:nvSpPr>
        <p:spPr>
          <a:xfrm>
            <a:off x="457200" y="896040"/>
            <a:ext cx="11246760" cy="18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7" name="TextBox 3"/>
          <p:cNvSpPr/>
          <p:nvPr/>
        </p:nvSpPr>
        <p:spPr>
          <a:xfrm>
            <a:off x="457200" y="960120"/>
            <a:ext cx="11246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ko-KR" sz="1300" spc="-1" strike="noStrike">
                <a:solidFill>
                  <a:srgbClr val="404040"/>
                </a:solidFill>
                <a:latin typeface="Calibri"/>
              </a:rPr>
              <a:t>대량 프로그래밍 모드 안정화  </a:t>
            </a:r>
            <a:r>
              <a:rPr b="0" i="1" lang="en-US" sz="1300" spc="-1" strike="noStrike">
                <a:solidFill>
                  <a:srgbClr val="404040"/>
                </a:solidFill>
                <a:latin typeface="Calibri"/>
              </a:rPr>
              <a:t>·  </a:t>
            </a:r>
            <a:r>
              <a:rPr b="0" i="1" lang="ko-KR" sz="1300" spc="-1" strike="noStrike">
                <a:solidFill>
                  <a:srgbClr val="404040"/>
                </a:solidFill>
                <a:latin typeface="Calibri"/>
              </a:rPr>
              <a:t>음성 개선  </a:t>
            </a:r>
            <a:r>
              <a:rPr b="0" i="1" lang="en-US" sz="1300" spc="-1" strike="noStrike">
                <a:solidFill>
                  <a:srgbClr val="404040"/>
                </a:solidFill>
                <a:latin typeface="Calibri"/>
              </a:rPr>
              <a:t>·  </a:t>
            </a:r>
            <a:r>
              <a:rPr b="0" i="1" lang="ko-KR" sz="1300" spc="-1" strike="noStrike">
                <a:solidFill>
                  <a:srgbClr val="404040"/>
                </a:solidFill>
                <a:latin typeface="Calibri"/>
              </a:rPr>
              <a:t>보드 감지 강화</a:t>
            </a:r>
            <a:endParaRPr b="0" lang="en-US" sz="13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08" name="TextBox 4"/>
          <p:cNvSpPr/>
          <p:nvPr/>
        </p:nvSpPr>
        <p:spPr>
          <a:xfrm>
            <a:off x="457200" y="1417320"/>
            <a:ext cx="5577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1. </a:t>
            </a:r>
            <a:r>
              <a:rPr b="1" lang="ko-KR" sz="1400" spc="-1" strike="noStrike">
                <a:solidFill>
                  <a:srgbClr val="000000"/>
                </a:solidFill>
                <a:latin typeface="Calibri"/>
              </a:rPr>
              <a:t>보드 감지 개선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09" name="Rectangle 5"/>
          <p:cNvSpPr/>
          <p:nvPr/>
        </p:nvSpPr>
        <p:spPr>
          <a:xfrm>
            <a:off x="457200" y="1783080"/>
            <a:ext cx="5486040" cy="18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0" name="TextBox 6"/>
          <p:cNvSpPr/>
          <p:nvPr/>
        </p:nvSpPr>
        <p:spPr>
          <a:xfrm>
            <a:off x="548640" y="187452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HAL_GetTick() -&gt; osKernelGetTickCount()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1" name="TextBox 7"/>
          <p:cNvSpPr/>
          <p:nvPr/>
        </p:nvSpPr>
        <p:spPr>
          <a:xfrm>
            <a:off x="548640" y="214884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FreeRTOS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환경에서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HAL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타이머가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0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반환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-&gt;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쓰로틀 무한 실패 수정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2" name="TextBox 8"/>
          <p:cNvSpPr/>
          <p:nvPr/>
        </p:nvSpPr>
        <p:spPr>
          <a:xfrm>
            <a:off x="548640" y="253296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EE_Write 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타임아웃 기반 존재 감지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3" name="TextBox 9"/>
          <p:cNvSpPr/>
          <p:nvPr/>
        </p:nvSpPr>
        <p:spPr>
          <a:xfrm>
            <a:off x="548640" y="280728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이미 프로그래밍된 보드 재삽입 시 데이터 비교 오판 방지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4" name="TextBox 10"/>
          <p:cNvSpPr/>
          <p:nvPr/>
        </p:nvSpPr>
        <p:spPr>
          <a:xfrm>
            <a:off x="457200" y="3374280"/>
            <a:ext cx="5577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2. 2</a:t>
            </a:r>
            <a:r>
              <a:rPr b="1" lang="ko-KR" sz="1400" spc="-1" strike="noStrike">
                <a:solidFill>
                  <a:srgbClr val="000000"/>
                </a:solidFill>
                <a:latin typeface="Calibri"/>
              </a:rPr>
              <a:t>초 안정화 대기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5" name="Rectangle 11"/>
          <p:cNvSpPr/>
          <p:nvPr/>
        </p:nvSpPr>
        <p:spPr>
          <a:xfrm>
            <a:off x="457200" y="3740040"/>
            <a:ext cx="5486040" cy="18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TextBox 12"/>
          <p:cNvSpPr/>
          <p:nvPr/>
        </p:nvSpPr>
        <p:spPr>
          <a:xfrm>
            <a:off x="548640" y="383148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보드 감지 후 즉시 프로그래밍 금지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7" name="TextBox 13"/>
          <p:cNvSpPr/>
          <p:nvPr/>
        </p:nvSpPr>
        <p:spPr>
          <a:xfrm>
            <a:off x="548640" y="410580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파란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LED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전체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2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초 점멸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-&gt;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사용자 보드 가압으로 접촉 확보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8" name="TextBox 14"/>
          <p:cNvSpPr/>
          <p:nvPr/>
        </p:nvSpPr>
        <p:spPr>
          <a:xfrm>
            <a:off x="548640" y="448956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- 2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초 후 연결 재확인 </a:t>
            </a: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(board_detect)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19" name="TextBox 15"/>
          <p:cNvSpPr/>
          <p:nvPr/>
        </p:nvSpPr>
        <p:spPr>
          <a:xfrm>
            <a:off x="548640" y="476388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재확인 실패 시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State A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자동 재시작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(continue)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0" name="TextBox 16"/>
          <p:cNvSpPr/>
          <p:nvPr/>
        </p:nvSpPr>
        <p:spPr>
          <a:xfrm>
            <a:off x="6400800" y="1417320"/>
            <a:ext cx="5577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3. </a:t>
            </a:r>
            <a:r>
              <a:rPr b="1" lang="ko-KR" sz="1400" spc="-1" strike="noStrike">
                <a:solidFill>
                  <a:srgbClr val="000000"/>
                </a:solidFill>
                <a:latin typeface="Calibri"/>
              </a:rPr>
              <a:t>음성 최적화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(</a:t>
            </a:r>
            <a:r>
              <a:rPr b="1" lang="ko-KR" sz="1400" spc="-1" strike="noStrike">
                <a:solidFill>
                  <a:srgbClr val="000000"/>
                </a:solidFill>
                <a:latin typeface="Calibri"/>
              </a:rPr>
              <a:t>최종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7</a:t>
            </a:r>
            <a:r>
              <a:rPr b="1" lang="ko-KR" sz="1400" spc="-1" strike="noStrike">
                <a:solidFill>
                  <a:srgbClr val="000000"/>
                </a:solidFill>
                <a:latin typeface="Calibri"/>
              </a:rPr>
              <a:t>종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1" name="Rectangle 17"/>
          <p:cNvSpPr/>
          <p:nvPr/>
        </p:nvSpPr>
        <p:spPr>
          <a:xfrm>
            <a:off x="6400800" y="1783080"/>
            <a:ext cx="5486040" cy="18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TextBox 18"/>
          <p:cNvSpPr/>
          <p:nvPr/>
        </p:nvSpPr>
        <p:spPr>
          <a:xfrm>
            <a:off x="6492240" y="187452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- 8 kHz -&gt; 16 kHz 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업그레이드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3" name="TextBox 19"/>
          <p:cNvSpPr/>
          <p:nvPr/>
        </p:nvSpPr>
        <p:spPr>
          <a:xfrm>
            <a:off x="6492240" y="214884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자음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(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ㅅ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/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ㅈ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/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ㅊ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)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명료도 향상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/ Flash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사용량 조정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4" name="TextBox 20"/>
          <p:cNvSpPr/>
          <p:nvPr/>
        </p:nvSpPr>
        <p:spPr>
          <a:xfrm>
            <a:off x="6492240" y="253296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불필요 </a:t>
            </a: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3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종 제거 </a:t>
            </a: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· 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신규 </a:t>
            </a: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2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종 추가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5" name="TextBox 21"/>
          <p:cNvSpPr/>
          <p:nvPr/>
        </p:nvSpPr>
        <p:spPr>
          <a:xfrm>
            <a:off x="6492240" y="280728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제거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: INTRO·IS_93C56·IS_93C46 /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추가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: #5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새 보드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· #6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프로그램 시작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6" name="TextBox 22"/>
          <p:cNvSpPr/>
          <p:nvPr/>
        </p:nvSpPr>
        <p:spPr>
          <a:xfrm>
            <a:off x="6400800" y="3374280"/>
            <a:ext cx="5577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4. </a:t>
            </a:r>
            <a:r>
              <a:rPr b="1" lang="ko-KR" sz="1400" spc="-1" strike="noStrike">
                <a:solidFill>
                  <a:srgbClr val="000000"/>
                </a:solidFill>
                <a:latin typeface="Calibri"/>
              </a:rPr>
              <a:t>대기 화면 반복 안내</a:t>
            </a:r>
            <a:endParaRPr b="0" lang="en-US" sz="14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7" name="Rectangle 23"/>
          <p:cNvSpPr/>
          <p:nvPr/>
        </p:nvSpPr>
        <p:spPr>
          <a:xfrm>
            <a:off x="6400800" y="3740040"/>
            <a:ext cx="5486040" cy="18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8" name="TextBox 24"/>
          <p:cNvSpPr/>
          <p:nvPr/>
        </p:nvSpPr>
        <p:spPr>
          <a:xfrm>
            <a:off x="6492240" y="383148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보드 미감지 상태 지속 시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29" name="TextBox 25"/>
          <p:cNvSpPr/>
          <p:nvPr/>
        </p:nvSpPr>
        <p:spPr>
          <a:xfrm>
            <a:off x="6492240" y="410580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10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초마다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'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새 보드를 올려 주십시요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'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자동 반복 출력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30" name="TextBox 26"/>
          <p:cNvSpPr/>
          <p:nvPr/>
        </p:nvSpPr>
        <p:spPr>
          <a:xfrm>
            <a:off x="6492240" y="4489560"/>
            <a:ext cx="539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- 8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가지 </a:t>
            </a:r>
            <a:r>
              <a:rPr b="1" lang="en-US" sz="1200" spc="-1" strike="noStrike">
                <a:solidFill>
                  <a:srgbClr val="000000"/>
                </a:solidFill>
                <a:latin typeface="Calibri"/>
              </a:rPr>
              <a:t>LED </a:t>
            </a:r>
            <a:r>
              <a:rPr b="1" lang="ko-KR" sz="1200" spc="-1" strike="noStrike">
                <a:solidFill>
                  <a:srgbClr val="000000"/>
                </a:solidFill>
                <a:latin typeface="Calibri"/>
              </a:rPr>
              <a:t>쇼 패턴 내 체크포인트</a:t>
            </a:r>
            <a:endParaRPr b="0" lang="en-US" sz="12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31" name="TextBox 27"/>
          <p:cNvSpPr/>
          <p:nvPr/>
        </p:nvSpPr>
        <p:spPr>
          <a:xfrm>
            <a:off x="6492240" y="476388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  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각 패턴 종료 시점마다 </a:t>
            </a:r>
            <a:r>
              <a:rPr b="0" lang="en-US" sz="1100" spc="-1" strike="noStrike">
                <a:solidFill>
                  <a:srgbClr val="404040"/>
                </a:solidFill>
                <a:latin typeface="Calibri"/>
              </a:rPr>
              <a:t>10</a:t>
            </a:r>
            <a:r>
              <a:rPr b="0" lang="ko-KR" sz="1100" spc="-1" strike="noStrike">
                <a:solidFill>
                  <a:srgbClr val="404040"/>
                </a:solidFill>
                <a:latin typeface="Calibri"/>
              </a:rPr>
              <a:t>초 경과 여부 판정</a:t>
            </a:r>
            <a:endParaRPr b="0" lang="en-US" sz="1100" spc="-1" strike="noStrike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32" name="Rectangle 28"/>
          <p:cNvSpPr/>
          <p:nvPr/>
        </p:nvSpPr>
        <p:spPr>
          <a:xfrm>
            <a:off x="6035040" y="1417320"/>
            <a:ext cx="18000" cy="512028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PPT_Plus/1.0.0.0$Windows_X86_64 LibreOffice_project/</Application>
  <AppVersion>15.0000</AppVersion>
  <Words>3482</Words>
  <Paragraphs>574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2026-04-12T09:50:06Z</dcterms:created>
  <dc:creator>DSE Laser</dc:creator>
  <dc:description/>
  <dc:language>ko-KR</dc:language>
  <cp:lastModifiedBy/>
  <dcterms:modified xsi:type="dcterms:W3CDTF">2026-04-18T00:49:06Z</dcterms:modified>
  <cp:revision>5</cp:revision>
  <dc:subject>PptxGenJS Presentation</dc:subject>
  <dc:title>93C56 Memory Board Tester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화면 슬라이드 쇼(16:9)</vt:lpwstr>
  </property>
  <property fmtid="{D5CDD505-2E9C-101B-9397-08002B2CF9AE}" pid="4" name="Slides">
    <vt:i4>21</vt:i4>
  </property>
</Properties>
</file>